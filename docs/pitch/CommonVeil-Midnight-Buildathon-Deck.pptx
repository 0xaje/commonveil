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abdde2e13844dd" /><Relationship Type="http://schemas.openxmlformats.org/officeDocument/2006/relationships/extended-properties" Target="/docProps/app.xml" Id="Rdc73fd5f80f24803" /><Relationship Type="http://schemas.openxmlformats.org/officeDocument/2006/relationships/officeDocument" Target="/ppt/presentation.xml" Id="R124186bf30d14f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e69482138a4fd7"/>
  </p:sldMasterIdLst>
  <p:notesMasterIdLst>
    <p:notesMasterId xmlns:r="http://schemas.openxmlformats.org/officeDocument/2006/relationships" r:id="R449591a97b6440f7"/>
  </p:notesMasterIdLst>
  <p:sldIdLst>
    <p:sldId xmlns:r="http://schemas.openxmlformats.org/officeDocument/2006/relationships" id="256" r:id="R778cd27e13114047"/>
    <p:sldId xmlns:r="http://schemas.openxmlformats.org/officeDocument/2006/relationships" id="257" r:id="Rcf93c5d91819424e"/>
    <p:sldId xmlns:r="http://schemas.openxmlformats.org/officeDocument/2006/relationships" id="258" r:id="R0b6ed2b979cd4275"/>
    <p:sldId xmlns:r="http://schemas.openxmlformats.org/officeDocument/2006/relationships" id="259" r:id="R9bfc3e30134d4689"/>
    <p:sldId xmlns:r="http://schemas.openxmlformats.org/officeDocument/2006/relationships" id="260" r:id="R8ac3902854504f0a"/>
    <p:sldId xmlns:r="http://schemas.openxmlformats.org/officeDocument/2006/relationships" id="261" r:id="Rc61127170eb646fc"/>
    <p:sldId xmlns:r="http://schemas.openxmlformats.org/officeDocument/2006/relationships" id="262" r:id="Rfa35ac2a1ad243ad"/>
    <p:sldId xmlns:r="http://schemas.openxmlformats.org/officeDocument/2006/relationships" id="263" r:id="Rdec34f4933a243de"/>
    <p:sldId xmlns:r="http://schemas.openxmlformats.org/officeDocument/2006/relationships" id="264" r:id="Rf017978f2eb64cca"/>
    <p:sldId xmlns:r="http://schemas.openxmlformats.org/officeDocument/2006/relationships" id="265" r:id="R74553d82e3354c95"/>
    <p:sldId xmlns:r="http://schemas.openxmlformats.org/officeDocument/2006/relationships" id="266" r:id="R60a7fe8e4fca4d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80b2948384057" /><Relationship Type="http://schemas.openxmlformats.org/officeDocument/2006/relationships/slideMaster" Target="/ppt/slideMasters/slideMaster1.xml" Id="R4de69482138a4fd7" /><Relationship Type="http://schemas.openxmlformats.org/officeDocument/2006/relationships/notesMaster" Target="/ppt/notesMasters/notesMaster1.xml" Id="R449591a97b6440f7" /><Relationship Type="http://schemas.openxmlformats.org/officeDocument/2006/relationships/presProps" Target="/ppt/presProps.xml" Id="R06c005ad236c4c71" /><Relationship Type="http://schemas.openxmlformats.org/officeDocument/2006/relationships/tableStyles" Target="/ppt/tableStyles.xml" Id="R034f6c1c79ea4fb6" /><Relationship Type="http://schemas.openxmlformats.org/officeDocument/2006/relationships/slide" Target="/ppt/slides/slide1.xml" Id="R778cd27e13114047" /><Relationship Type="http://schemas.openxmlformats.org/officeDocument/2006/relationships/slide" Target="/ppt/slides/slide2.xml" Id="Rcf93c5d91819424e" /><Relationship Type="http://schemas.openxmlformats.org/officeDocument/2006/relationships/slide" Target="/ppt/slides/slide3.xml" Id="R0b6ed2b979cd4275" /><Relationship Type="http://schemas.openxmlformats.org/officeDocument/2006/relationships/slide" Target="/ppt/slides/slide4.xml" Id="R9bfc3e30134d4689" /><Relationship Type="http://schemas.openxmlformats.org/officeDocument/2006/relationships/slide" Target="/ppt/slides/slide5.xml" Id="R8ac3902854504f0a" /><Relationship Type="http://schemas.openxmlformats.org/officeDocument/2006/relationships/slide" Target="/ppt/slides/slide6.xml" Id="Rc61127170eb646fc" /><Relationship Type="http://schemas.openxmlformats.org/officeDocument/2006/relationships/slide" Target="/ppt/slides/slide7.xml" Id="Rfa35ac2a1ad243ad" /><Relationship Type="http://schemas.openxmlformats.org/officeDocument/2006/relationships/slide" Target="/ppt/slides/slide8.xml" Id="Rdec34f4933a243de" /><Relationship Type="http://schemas.openxmlformats.org/officeDocument/2006/relationships/slide" Target="/ppt/slides/slide9.xml" Id="Rf017978f2eb64cca" /><Relationship Type="http://schemas.openxmlformats.org/officeDocument/2006/relationships/slide" Target="/ppt/slides/slide10.xml" Id="R74553d82e3354c95" /><Relationship Type="http://schemas.openxmlformats.org/officeDocument/2006/relationships/slide" Target="/ppt/slides/slide11.xml" Id="R60a7fe8e4fca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293f69be248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973884eba4c99" /><Relationship Type="http://schemas.openxmlformats.org/officeDocument/2006/relationships/notesMaster" Target="/ppt/notesMasters/notesMaster1.xml" Id="R95c2745b32a24e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5ec5525e64685" /><Relationship Type="http://schemas.openxmlformats.org/officeDocument/2006/relationships/notesMaster" Target="/ppt/notesMasters/notesMaster1.xml" Id="R7f539899a4e1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dfa1202f4de0" /><Relationship Type="http://schemas.openxmlformats.org/officeDocument/2006/relationships/notesMaster" Target="/ppt/notesMasters/notesMaster1.xml" Id="R23f52bce40c747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caff7ea13741dc" /><Relationship Type="http://schemas.openxmlformats.org/officeDocument/2006/relationships/notesMaster" Target="/ppt/notesMasters/notesMaster1.xml" Id="Ra6e25f9319534d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fe3f709c24340" /><Relationship Type="http://schemas.openxmlformats.org/officeDocument/2006/relationships/notesMaster" Target="/ppt/notesMasters/notesMaster1.xml" Id="Rde921c77af45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f137cba7664d53" /><Relationship Type="http://schemas.openxmlformats.org/officeDocument/2006/relationships/notesMaster" Target="/ppt/notesMasters/notesMaster1.xml" Id="Rd524e88c41fc4a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786c5c0084fe8" /><Relationship Type="http://schemas.openxmlformats.org/officeDocument/2006/relationships/notesMaster" Target="/ppt/notesMasters/notesMaster1.xml" Id="Rbe903bc6df8943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a7028fd91946f1" /><Relationship Type="http://schemas.openxmlformats.org/officeDocument/2006/relationships/notesMaster" Target="/ppt/notesMasters/notesMaster1.xml" Id="R9a2f63bead2e4d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d1cabce66346b1" /><Relationship Type="http://schemas.openxmlformats.org/officeDocument/2006/relationships/notesMaster" Target="/ppt/notesMasters/notesMaster1.xml" Id="R122020c1086a49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80b16d2e344c58" /><Relationship Type="http://schemas.openxmlformats.org/officeDocument/2006/relationships/notesMaster" Target="/ppt/notesMasters/notesMaster1.xml" Id="Rf77fecb2089543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69e1cde4b046c4" /><Relationship Type="http://schemas.openxmlformats.org/officeDocument/2006/relationships/notesMaster" Target="/ppt/notesMasters/notesMaster1.xml" Id="Rbf3f3b95c91f4f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https://github.com/0xaje/CommonVeil/blob/main/docs/evidence.md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https://github.com/0xaje/CommonVeil/tree/main/docs/evidence/live-preprod-2026-10-14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093d74ac445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cc3b1881047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a843cc4014c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c3845fe7d49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d4a0e4abd40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b26eab58244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05C3FA-BB18-43CC-8106-9F1411C5E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897DEB-5430-4FA5-8AA3-FB738AC23F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DEF522-7E90-4F38-9B13-DA0B8EB6A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69B230-98BA-4B21-96BD-EF984DE8F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FB7736-F471-4834-88CA-86F5915F48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84A855-AFE6-4FA5-BA76-0FA8C9186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B79A56-99CC-43F1-9834-71C8E8DC55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6684CF-4EB6-43CB-AD7A-ECB6DAD4F7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DDCF7A-70F2-4363-B283-A92538B9D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A1651D-83EB-48F7-9AD0-C15F5B3D3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18d8fa2fad46b4" /><Relationship Type="http://schemas.openxmlformats.org/officeDocument/2006/relationships/slideLayout" Target="/ppt/slideLayouts/slideLayout1.xml" Id="Rf13473f09f4b4a4b" /><Relationship Type="http://schemas.openxmlformats.org/officeDocument/2006/relationships/slideLayout" Target="/ppt/slideLayouts/slideLayout2.xml" Id="Rda2c5a7732904cdc" /><Relationship Type="http://schemas.openxmlformats.org/officeDocument/2006/relationships/slideLayout" Target="/ppt/slideLayouts/slideLayout3.xml" Id="R7be9013fc57e4626" /><Relationship Type="http://schemas.openxmlformats.org/officeDocument/2006/relationships/slideLayout" Target="/ppt/slideLayouts/slideLayout4.xml" Id="Rc8bec1c9f24c4fd4" /><Relationship Type="http://schemas.openxmlformats.org/officeDocument/2006/relationships/slideLayout" Target="/ppt/slideLayouts/slideLayout5.xml" Id="R55edd8a52dcf4fb7" /><Relationship Type="http://schemas.openxmlformats.org/officeDocument/2006/relationships/slideLayout" Target="/ppt/slideLayouts/slideLayout6.xml" Id="Rb47c280066a3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473f09f4b4a4b"/>
    <p:sldLayoutId xmlns:r="http://schemas.openxmlformats.org/officeDocument/2006/relationships" id="2147483650" r:id="Rda2c5a7732904cdc"/>
    <p:sldLayoutId xmlns:r="http://schemas.openxmlformats.org/officeDocument/2006/relationships" id="2147483651" r:id="R7be9013fc57e4626"/>
    <p:sldLayoutId xmlns:r="http://schemas.openxmlformats.org/officeDocument/2006/relationships" id="2147483652" r:id="Rc8bec1c9f24c4fd4"/>
    <p:sldLayoutId xmlns:r="http://schemas.openxmlformats.org/officeDocument/2006/relationships" id="2147483653" r:id="R55edd8a52dcf4fb7"/>
    <p:sldLayoutId xmlns:r="http://schemas.openxmlformats.org/officeDocument/2006/relationships" id="2147483654" r:id="Rb47c280066a3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27cd7ce6b4571" /><Relationship Type="http://schemas.openxmlformats.org/officeDocument/2006/relationships/notesSlide" Target="/ppt/notesSlides/notesSlide1.xml" Id="R6cc17f775170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1e66e49974e07" /><Relationship Type="http://schemas.openxmlformats.org/officeDocument/2006/relationships/notesSlide" Target="/ppt/notesSlides/notesSlide2.xml" Id="R31011c0acff8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5565d63f84d8a" /><Relationship Type="http://schemas.openxmlformats.org/officeDocument/2006/relationships/notesSlide" Target="/ppt/notesSlides/notesSlide3.xml" Id="Rb9c0a08068b84e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e6a78a40254e0c" /><Relationship Type="http://schemas.openxmlformats.org/officeDocument/2006/relationships/notesSlide" Target="/ppt/notesSlides/notesSlide4.xml" Id="Rd4cfb9a9abb14e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a4ae00cc495c" /><Relationship Type="http://schemas.openxmlformats.org/officeDocument/2006/relationships/notesSlide" Target="/ppt/notesSlides/notesSlide5.xml" Id="Rc6f1c926a17d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a9a80b8894ab7" /><Relationship Type="http://schemas.openxmlformats.org/officeDocument/2006/relationships/notesSlide" Target="/ppt/notesSlides/notesSlide6.xml" Id="R3f5ad7f7cc834a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6529a2ee94964" /><Relationship Type="http://schemas.openxmlformats.org/officeDocument/2006/relationships/notesSlide" Target="/ppt/notesSlides/notesSlide7.xml" Id="R8cee1abe9a6b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a2acabf0b4c5a" /><Relationship Type="http://schemas.openxmlformats.org/officeDocument/2006/relationships/image" Target="/ppt/media/image.png" Id="R66d39d44d6614525" /><Relationship Type="http://schemas.openxmlformats.org/officeDocument/2006/relationships/notesSlide" Target="/ppt/notesSlides/notesSlide8.xml" Id="R3af4c60a8f014c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218f009294a68" /><Relationship Type="http://schemas.openxmlformats.org/officeDocument/2006/relationships/notesSlide" Target="/ppt/notesSlides/notesSlide9.xml" Id="R9a62c5afc13a4f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905ca51ba47fb" /><Relationship Type="http://schemas.openxmlformats.org/officeDocument/2006/relationships/notesSlide" Target="/ppt/notesSlides/notesSlide10.xml" Id="R00f93c32813746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4d3f1baa54776" /><Relationship Type="http://schemas.openxmlformats.org/officeDocument/2006/relationships/notesSlide" Target="/ppt/notesSlides/notesSlide11.xml" Id="R407db5632f4d44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41622FA-528D-42EC-9306-C7F07C70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0ABFD9D-EF04-42C3-811C-09A03B96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MIDNIGHT BUILDATHON · WAVE 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D8F2B99-F762-4104-9603-0F57E2DE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CommonVeil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F2C338B-E7D6-4B31-8DAC-185CD8C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Confidential vulnerability exposure coordination on Midnight</a:t>
            </a:r>
          </a:p>
        </p:txBody>
      </p:sp>
      <p:sp>
        <p:nvSpPr>
          <p:cNvPr id="5" name="cover-copy">
            <a:extLst xmlns:a="http://schemas.openxmlformats.org/drawingml/2006/main">
              <a:ext uri="{FF2B5EF4-FFF2-40B4-BE49-F238E27FC236}">
                <a16:creationId xmlns:a16="http://schemas.microsoft.com/office/drawing/2014/main" id="{6C71EEB8-F029-4206-9851-0DBC23E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Organizations can prove affected software exposure without publishing identity, complete inventory, or exact installed version.</a:t>
            </a:r>
          </a:p>
        </p:txBody>
      </p:sp>
      <p:sp>
        <p:nvSpPr>
          <p:cNvPr id="6" name="cover-tech">
            <a:extLst xmlns:a="http://schemas.openxmlformats.org/drawingml/2006/main">
              <a:ext uri="{FF2B5EF4-FFF2-40B4-BE49-F238E27FC236}">
                <a16:creationId xmlns:a16="http://schemas.microsoft.com/office/drawing/2014/main" id="{5B5ACF8D-E0E3-46FE-B8A6-265ED394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Compact · Midnight Preprod · 1AM · Zero-knowledge proofs</a:t>
            </a:r>
          </a:p>
        </p:txBody>
      </p:sp>
      <p:sp>
        <p:nvSpPr>
          <p:cNvPr id="7" name="cover-owner">
            <a:extLst xmlns:a="http://schemas.openxmlformats.org/drawingml/2006/main">
              <a:ext uri="{FF2B5EF4-FFF2-40B4-BE49-F238E27FC236}">
                <a16:creationId xmlns:a16="http://schemas.microsoft.com/office/drawing/2014/main" id="{419D78A0-4119-4719-B385-9263B20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Aje Oluwaseun Isaac · github.com/0xaje/CommonVeil</a:t>
            </a:r>
          </a:p>
        </p:txBody>
      </p:sp>
      <p:sp>
        <p:nvSpPr>
          <p:cNvPr id="8" name="cover-orbit-1">
            <a:extLst xmlns:a="http://schemas.openxmlformats.org/drawingml/2006/main">
              <a:ext uri="{FF2B5EF4-FFF2-40B4-BE49-F238E27FC236}">
                <a16:creationId xmlns:a16="http://schemas.microsoft.com/office/drawing/2014/main" id="{2B1E1B25-DEC4-4CB4-8EDA-3BE9E4B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239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74FF"/>
            </a:solidFill>
            <a:prstDash val="solid"/>
          </a:ln>
        </p:spPr>
      </p:sp>
      <p:sp>
        <p:nvSpPr>
          <p:cNvPr id="9" name="cover-orbit-2">
            <a:extLst xmlns:a="http://schemas.openxmlformats.org/drawingml/2006/main">
              <a:ext uri="{FF2B5EF4-FFF2-40B4-BE49-F238E27FC236}">
                <a16:creationId xmlns:a16="http://schemas.microsoft.com/office/drawing/2014/main" id="{931A32A6-6AF4-4D60-889D-C9F9DCC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20955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0D8E8"/>
            </a:solidFill>
            <a:prstDash val="solid"/>
          </a:ln>
        </p:spPr>
      </p:sp>
      <p:sp>
        <p:nvSpPr>
          <p:cNvPr id="10" name="cover-core">
            <a:extLst xmlns:a="http://schemas.openxmlformats.org/drawingml/2006/main">
              <a:ext uri="{FF2B5EF4-FFF2-40B4-BE49-F238E27FC236}">
                <a16:creationId xmlns:a16="http://schemas.microsoft.com/office/drawing/2014/main" id="{31B1168B-E2AB-488C-81F6-C006887F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30"/>
          </a:solidFill>
          <a:ln xmlns:a="http://schemas.openxmlformats.org/drawingml/2006/main" w="9525">
            <a:solidFill>
              <a:srgbClr val="50D8E8"/>
            </a:solidFill>
            <a:prstDash val="solid"/>
          </a:ln>
        </p:spPr>
      </p:sp>
      <p:sp>
        <p:nvSpPr>
          <p:cNvPr id="11" name="cover-core-label">
            <a:extLst xmlns:a="http://schemas.openxmlformats.org/drawingml/2006/main">
              <a:ext uri="{FF2B5EF4-FFF2-40B4-BE49-F238E27FC236}">
                <a16:creationId xmlns:a16="http://schemas.microsoft.com/office/drawing/2014/main" id="{0934588A-95DE-43F0-809B-3EE4E13C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622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957"/>
          </a:bodyPr>
          <a:lstStyle xmlns:a="http://schemas.openxmlformats.org/drawingml/2006/main">
            <a:defPPr algn="ctr">
              <a:defRPr sz="11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PRIVATE</a:t>
            </a:r>
          </a:p>
          <a:p xmlns:a="http://schemas.openxmlformats.org/drawingml/2006/main">
            <a:pPr algn="ctr">
              <a:defRPr sz="11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PROOF</a:t>
            </a:r>
          </a:p>
        </p:txBody>
      </p:sp>
    </p:spTree>
    <p:extLst>
      <p:ext uri="{BB962C8B-B14F-4D97-AF65-F5344CB8AC3E}">
        <p14:creationId xmlns:p14="http://schemas.microsoft.com/office/powerpoint/2010/main" val="615922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A683F18-A26E-4FF3-9608-20655A2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0B5A07D-7B5A-4284-B90E-B7F3C9FB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The disclosure problem</a:t>
            </a:r>
          </a:p>
        </p:txBody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05084E61-873A-4E38-8D3F-48B9352F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Vulnerability response needs credible evidence, but inventory disclosure creates new risk</a:t>
            </a:r>
          </a:p>
        </p:txBody>
      </p:sp>
      <p:sp>
        <p:nvSpPr>
          <p:cNvPr id="4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C04C1938-CC99-4707-982C-2B5DA61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left-title">
            <a:extLst xmlns:a="http://schemas.openxmlformats.org/drawingml/2006/main">
              <a:ext uri="{FF2B5EF4-FFF2-40B4-BE49-F238E27FC236}">
                <a16:creationId xmlns:a16="http://schemas.microsoft.com/office/drawing/2014/main" id="{6E92DDFD-07F2-434B-8926-2C310994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>
            <a:defPPr algn="l">
              <a:defRPr sz="2025" b="1">
                <a:solidFill>
                  <a:srgbClr val="FF8B8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8B8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8B8B"/>
                </a:solidFill>
                <a:latin typeface="DejaVu Sans"/>
                <a:ea typeface="DejaVu Sans"/>
                <a:cs typeface="DejaVu Sans"/>
              </a:rPr>
              <a:t>Publish the inventory</a:t>
            </a:r>
          </a:p>
        </p:txBody>
      </p:sp>
      <p:sp>
        <p:nvSpPr>
          <p:cNvPr id="6" name="problem-left-1-mark">
            <a:extLst xmlns:a="http://schemas.openxmlformats.org/drawingml/2006/main">
              <a:ext uri="{FF2B5EF4-FFF2-40B4-BE49-F238E27FC236}">
                <a16:creationId xmlns:a16="http://schemas.microsoft.com/office/drawing/2014/main" id="{6CDC952E-7F55-4933-ADB0-FC55DE2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eft-1">
            <a:extLst xmlns:a="http://schemas.openxmlformats.org/drawingml/2006/main">
              <a:ext uri="{FF2B5EF4-FFF2-40B4-BE49-F238E27FC236}">
                <a16:creationId xmlns:a16="http://schemas.microsoft.com/office/drawing/2014/main" id="{0E1EC8E2-0994-45C2-800A-EACEBF5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Reveals products and versions that attackers can target</a:t>
            </a:r>
          </a:p>
        </p:txBody>
      </p:sp>
      <p:sp>
        <p:nvSpPr>
          <p:cNvPr id="8" name="problem-left-2-mark">
            <a:extLst xmlns:a="http://schemas.openxmlformats.org/drawingml/2006/main">
              <a:ext uri="{FF2B5EF4-FFF2-40B4-BE49-F238E27FC236}">
                <a16:creationId xmlns:a16="http://schemas.microsoft.com/office/drawing/2014/main" id="{61707F49-7B0F-4FCD-8F1A-A5BB5579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left-2">
            <a:extLst xmlns:a="http://schemas.openxmlformats.org/drawingml/2006/main">
              <a:ext uri="{FF2B5EF4-FFF2-40B4-BE49-F238E27FC236}">
                <a16:creationId xmlns:a16="http://schemas.microsoft.com/office/drawing/2014/main" id="{CFD326CE-F635-4CC3-90CD-AA61D285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387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Links a vulnerable system to an organization</a:t>
            </a:r>
          </a:p>
        </p:txBody>
      </p:sp>
      <p:sp>
        <p:nvSpPr>
          <p:cNvPr id="10" name="problem-left-3-mark">
            <a:extLst xmlns:a="http://schemas.openxmlformats.org/drawingml/2006/main">
              <a:ext uri="{FF2B5EF4-FFF2-40B4-BE49-F238E27FC236}">
                <a16:creationId xmlns:a16="http://schemas.microsoft.com/office/drawing/2014/main" id="{A7E9D6D3-7DA6-4C70-BE24-579D7F5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eft-3">
            <a:extLst xmlns:a="http://schemas.openxmlformats.org/drawingml/2006/main">
              <a:ext uri="{FF2B5EF4-FFF2-40B4-BE49-F238E27FC236}">
                <a16:creationId xmlns:a16="http://schemas.microsoft.com/office/drawing/2014/main" id="{4B569AA3-AA59-445A-8A5C-0D61A41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97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Creates regulatory and commercial exposure</a:t>
            </a:r>
          </a:p>
        </p:txBody>
      </p:sp>
      <p:sp>
        <p:nvSpPr>
          <p:cNvPr id="12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06AA7A77-3A8A-4113-B85D-93D0279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right-title">
            <a:extLst xmlns:a="http://schemas.openxmlformats.org/drawingml/2006/main">
              <a:ext uri="{FF2B5EF4-FFF2-40B4-BE49-F238E27FC236}">
                <a16:creationId xmlns:a16="http://schemas.microsoft.com/office/drawing/2014/main" id="{0B16361C-90C4-4D52-AD5A-7DB14F0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>
            <a:defPPr algn="l">
              <a:defRPr sz="2025" b="1">
                <a:solidFill>
                  <a:srgbClr val="F5C6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5C66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C66A"/>
                </a:solidFill>
                <a:latin typeface="DejaVu Sans"/>
                <a:ea typeface="DejaVu Sans"/>
                <a:cs typeface="DejaVu Sans"/>
              </a:rPr>
              <a:t>Keep the claim private</a:t>
            </a:r>
          </a:p>
        </p:txBody>
      </p:sp>
      <p:sp>
        <p:nvSpPr>
          <p:cNvPr id="14" name="problem-right-1-mark">
            <a:extLst xmlns:a="http://schemas.openxmlformats.org/drawingml/2006/main">
              <a:ext uri="{FF2B5EF4-FFF2-40B4-BE49-F238E27FC236}">
                <a16:creationId xmlns:a16="http://schemas.microsoft.com/office/drawing/2014/main" id="{F37B8A39-EEB6-44FA-B6E0-99E94268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right-1">
            <a:extLst xmlns:a="http://schemas.openxmlformats.org/drawingml/2006/main">
              <a:ext uri="{FF2B5EF4-FFF2-40B4-BE49-F238E27FC236}">
                <a16:creationId xmlns:a16="http://schemas.microsoft.com/office/drawing/2014/main" id="{D301978B-CE57-45B5-A638-123B1B0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467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Coordinators cannot verify the affected release</a:t>
            </a:r>
          </a:p>
        </p:txBody>
      </p:sp>
      <p:sp>
        <p:nvSpPr>
          <p:cNvPr id="16" name="problem-right-2-mark">
            <a:extLst xmlns:a="http://schemas.openxmlformats.org/drawingml/2006/main">
              <a:ext uri="{FF2B5EF4-FFF2-40B4-BE49-F238E27FC236}">
                <a16:creationId xmlns:a16="http://schemas.microsoft.com/office/drawing/2014/main" id="{846A677F-FD70-4D5C-BE75-30B0BD76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blem-right-2">
            <a:extLst xmlns:a="http://schemas.openxmlformats.org/drawingml/2006/main">
              <a:ext uri="{FF2B5EF4-FFF2-40B4-BE49-F238E27FC236}">
                <a16:creationId xmlns:a16="http://schemas.microsoft.com/office/drawing/2014/main" id="{544AFD24-3BC2-45F1-8740-2C66869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Duplicate reports can distort aggregate response</a:t>
            </a:r>
          </a:p>
        </p:txBody>
      </p:sp>
      <p:sp>
        <p:nvSpPr>
          <p:cNvPr id="18" name="problem-right-3-mark">
            <a:extLst xmlns:a="http://schemas.openxmlformats.org/drawingml/2006/main">
              <a:ext uri="{FF2B5EF4-FFF2-40B4-BE49-F238E27FC236}">
                <a16:creationId xmlns:a16="http://schemas.microsoft.com/office/drawing/2014/main" id="{606E5C29-E3A7-4636-B567-CA6402B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blem-right-3">
            <a:extLst xmlns:a="http://schemas.openxmlformats.org/drawingml/2006/main">
              <a:ext uri="{FF2B5EF4-FFF2-40B4-BE49-F238E27FC236}">
                <a16:creationId xmlns:a16="http://schemas.microsoft.com/office/drawing/2014/main" id="{2671674D-A01C-4837-9F28-6C4D1A25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52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Trust moves off-chain with no enforceable proof</a:t>
            </a:r>
          </a:p>
        </p:txBody>
      </p:sp>
      <p:sp>
        <p:nvSpPr>
          <p:cNvPr id="20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7F059B36-3A0F-4F3E-8F6A-6E836F43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359"/>
          </a:bodyPr>
          <a:lstStyle xmlns:a="http://schemas.openxmlformats.org/drawingml/2006/main">
            <a:defPPr algn="ctr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CommonVeil proves the private fact and publishes only the minimum accountable result.</a:t>
            </a:r>
          </a:p>
        </p:txBody>
      </p:sp>
      <p:sp>
        <p:nvSpPr>
          <p:cNvPr id="21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5A9899B4-7CB8-4864-846B-AEB9A63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2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F75051D7-CAD0-4AF8-8488-47D2EE3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1412598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5D262D8-CC6A-4347-8B30-5DE80408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CA25B0F-9511-41DC-8512-A4A45170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Why Midnight</a:t>
            </a:r>
          </a:p>
        </p:txBody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BEF5FF24-F06C-4A7E-9BDE-0734CEE8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Compact enforces the relationship between private inventory and public policy</a:t>
            </a:r>
          </a:p>
        </p:txBody>
      </p:sp>
      <p:sp>
        <p:nvSpPr>
          <p:cNvPr id="4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7175F39-E089-4D1E-B7D9-2E1DA8C2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dnight-step-1">
            <a:extLst xmlns:a="http://schemas.openxmlformats.org/drawingml/2006/main">
              <a:ext uri="{FF2B5EF4-FFF2-40B4-BE49-F238E27FC236}">
                <a16:creationId xmlns:a16="http://schemas.microsoft.com/office/drawing/2014/main" id="{B436ABC7-65C3-40C9-BC2D-B833C05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midnight-title-1">
            <a:extLst xmlns:a="http://schemas.openxmlformats.org/drawingml/2006/main">
              <a:ext uri="{FF2B5EF4-FFF2-40B4-BE49-F238E27FC236}">
                <a16:creationId xmlns:a16="http://schemas.microsoft.com/office/drawing/2014/main" id="{6B71CBA3-B010-4B31-94A7-4E0586C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Admission</a:t>
            </a:r>
          </a:p>
        </p:txBody>
      </p:sp>
      <p:sp>
        <p:nvSpPr>
          <p:cNvPr id="7" name="midnight-circuit-1">
            <a:extLst xmlns:a="http://schemas.openxmlformats.org/drawingml/2006/main">
              <a:ext uri="{FF2B5EF4-FFF2-40B4-BE49-F238E27FC236}">
                <a16:creationId xmlns:a16="http://schemas.microsoft.com/office/drawing/2014/main" id="{BF88111E-45C4-4666-B4D4-682A1562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registerMember</a:t>
            </a:r>
          </a:p>
        </p:txBody>
      </p:sp>
      <p:sp>
        <p:nvSpPr>
          <p:cNvPr id="8" name="midnight-body-1">
            <a:extLst xmlns:a="http://schemas.openxmlformats.org/drawingml/2006/main">
              <a:ext uri="{FF2B5EF4-FFF2-40B4-BE49-F238E27FC236}">
                <a16:creationId xmlns:a16="http://schemas.microsoft.com/office/drawing/2014/main" id="{F09C2EE4-CF74-43A5-9220-70C42D18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Registrar admits an opaque Member credential.</a:t>
            </a:r>
          </a:p>
        </p:txBody>
      </p:sp>
      <p:sp>
        <p:nvSpPr>
          <p:cNvPr id="9" name="midnight-link-1">
            <a:extLst xmlns:a="http://schemas.openxmlformats.org/drawingml/2006/main">
              <a:ext uri="{FF2B5EF4-FFF2-40B4-BE49-F238E27FC236}">
                <a16:creationId xmlns:a16="http://schemas.microsoft.com/office/drawing/2014/main" id="{9B083601-3858-4E15-B69F-BF5DFCC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24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dnight-step-2">
            <a:extLst xmlns:a="http://schemas.openxmlformats.org/drawingml/2006/main">
              <a:ext uri="{FF2B5EF4-FFF2-40B4-BE49-F238E27FC236}">
                <a16:creationId xmlns:a16="http://schemas.microsoft.com/office/drawing/2014/main" id="{D0EAF1F6-1E4C-4FB5-BAC6-0BE6D085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90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midnight-title-2">
            <a:extLst xmlns:a="http://schemas.openxmlformats.org/drawingml/2006/main">
              <a:ext uri="{FF2B5EF4-FFF2-40B4-BE49-F238E27FC236}">
                <a16:creationId xmlns:a16="http://schemas.microsoft.com/office/drawing/2014/main" id="{95CC361A-EBD4-4F28-8CE9-02817B5E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241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Certification</a:t>
            </a:r>
          </a:p>
        </p:txBody>
      </p:sp>
      <p:sp>
        <p:nvSpPr>
          <p:cNvPr id="12" name="midnight-circuit-2">
            <a:extLst xmlns:a="http://schemas.openxmlformats.org/drawingml/2006/main">
              <a:ext uri="{FF2B5EF4-FFF2-40B4-BE49-F238E27FC236}">
                <a16:creationId xmlns:a16="http://schemas.microsoft.com/office/drawing/2014/main" id="{0CBB9DF4-3814-4622-BE29-915C8EF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718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certifyInventory</a:t>
            </a:r>
          </a:p>
        </p:txBody>
      </p:sp>
      <p:sp>
        <p:nvSpPr>
          <p:cNvPr id="13" name="midnight-body-2">
            <a:extLst xmlns:a="http://schemas.openxmlformats.org/drawingml/2006/main">
              <a:ext uri="{FF2B5EF4-FFF2-40B4-BE49-F238E27FC236}">
                <a16:creationId xmlns:a16="http://schemas.microsoft.com/office/drawing/2014/main" id="{E35832D4-A815-46CE-B2A0-8A3E0BC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Certifier commits private inventory before policy activation.</a:t>
            </a:r>
          </a:p>
        </p:txBody>
      </p:sp>
      <p:sp>
        <p:nvSpPr>
          <p:cNvPr id="14" name="midnight-link-2">
            <a:extLst xmlns:a="http://schemas.openxmlformats.org/drawingml/2006/main">
              <a:ext uri="{FF2B5EF4-FFF2-40B4-BE49-F238E27FC236}">
                <a16:creationId xmlns:a16="http://schemas.microsoft.com/office/drawing/2014/main" id="{58FEBA43-CC60-4DAC-B08A-C5EA8BB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24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dnight-step-3">
            <a:extLst xmlns:a="http://schemas.openxmlformats.org/drawingml/2006/main">
              <a:ext uri="{FF2B5EF4-FFF2-40B4-BE49-F238E27FC236}">
                <a16:creationId xmlns:a16="http://schemas.microsoft.com/office/drawing/2014/main" id="{D978841F-E190-47AE-BB79-CEF474B8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midnight-title-3">
            <a:extLst xmlns:a="http://schemas.openxmlformats.org/drawingml/2006/main">
              <a:ext uri="{FF2B5EF4-FFF2-40B4-BE49-F238E27FC236}">
                <a16:creationId xmlns:a16="http://schemas.microsoft.com/office/drawing/2014/main" id="{0A8C9A05-146F-40D5-8062-85C27715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Policy</a:t>
            </a:r>
          </a:p>
        </p:txBody>
      </p:sp>
      <p:sp>
        <p:nvSpPr>
          <p:cNvPr id="17" name="midnight-circuit-3">
            <a:extLst xmlns:a="http://schemas.openxmlformats.org/drawingml/2006/main">
              <a:ext uri="{FF2B5EF4-FFF2-40B4-BE49-F238E27FC236}">
                <a16:creationId xmlns:a16="http://schemas.microsoft.com/office/drawing/2014/main" id="{88A5A723-BB0A-4196-B461-8C35C87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718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registerAffectedRelease</a:t>
            </a:r>
          </a:p>
        </p:txBody>
      </p:sp>
      <p:sp>
        <p:nvSpPr>
          <p:cNvPr id="18" name="midnight-body-3">
            <a:extLst xmlns:a="http://schemas.openxmlformats.org/drawingml/2006/main">
              <a:ext uri="{FF2B5EF4-FFF2-40B4-BE49-F238E27FC236}">
                <a16:creationId xmlns:a16="http://schemas.microsoft.com/office/drawing/2014/main" id="{77DE0FC3-F510-4296-930F-42D989B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Registrar records an exact advisory release and activates policy.</a:t>
            </a:r>
          </a:p>
        </p:txBody>
      </p:sp>
      <p:sp>
        <p:nvSpPr>
          <p:cNvPr id="19" name="midnight-link-3">
            <a:extLst xmlns:a="http://schemas.openxmlformats.org/drawingml/2006/main">
              <a:ext uri="{FF2B5EF4-FFF2-40B4-BE49-F238E27FC236}">
                <a16:creationId xmlns:a16="http://schemas.microsoft.com/office/drawing/2014/main" id="{FD8D3656-5BE9-4D52-B7A6-E92398B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241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idnight-step-4">
            <a:extLst xmlns:a="http://schemas.openxmlformats.org/drawingml/2006/main">
              <a:ext uri="{FF2B5EF4-FFF2-40B4-BE49-F238E27FC236}">
                <a16:creationId xmlns:a16="http://schemas.microsoft.com/office/drawing/2014/main" id="{85C9BE09-F84C-42EA-B7A5-3DB4426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90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midnight-title-4">
            <a:extLst xmlns:a="http://schemas.openxmlformats.org/drawingml/2006/main">
              <a:ext uri="{FF2B5EF4-FFF2-40B4-BE49-F238E27FC236}">
                <a16:creationId xmlns:a16="http://schemas.microsoft.com/office/drawing/2014/main" id="{3F25E68D-C1A1-427B-97D9-A8C439A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241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Attestation</a:t>
            </a:r>
          </a:p>
        </p:txBody>
      </p:sp>
      <p:sp>
        <p:nvSpPr>
          <p:cNvPr id="22" name="midnight-circuit-4">
            <a:extLst xmlns:a="http://schemas.openxmlformats.org/drawingml/2006/main">
              <a:ext uri="{FF2B5EF4-FFF2-40B4-BE49-F238E27FC236}">
                <a16:creationId xmlns:a16="http://schemas.microsoft.com/office/drawing/2014/main" id="{5987B9E0-DBE2-4809-B2CE-C188555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718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attest</a:t>
            </a:r>
          </a:p>
        </p:txBody>
      </p:sp>
      <p:sp>
        <p:nvSpPr>
          <p:cNvPr id="23" name="midnight-body-4">
            <a:extLst xmlns:a="http://schemas.openxmlformats.org/drawingml/2006/main">
              <a:ext uri="{FF2B5EF4-FFF2-40B4-BE49-F238E27FC236}">
                <a16:creationId xmlns:a16="http://schemas.microsoft.com/office/drawing/2014/main" id="{D30AD7F7-F950-431D-A691-9C3FE12A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1950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Member proves the certified private release matches policy.</a:t>
            </a:r>
          </a:p>
        </p:txBody>
      </p:sp>
      <p:sp>
        <p:nvSpPr>
          <p:cNvPr id="24" name="midnight-boundary">
            <a:extLst xmlns:a="http://schemas.openxmlformats.org/drawingml/2006/main">
              <a:ext uri="{FF2B5EF4-FFF2-40B4-BE49-F238E27FC236}">
                <a16:creationId xmlns:a16="http://schemas.microsoft.com/office/drawing/2014/main" id="{26C92993-1610-49DC-A2A9-C21DFF8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941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dnight-private">
            <a:extLst xmlns:a="http://schemas.openxmlformats.org/drawingml/2006/main">
              <a:ext uri="{FF2B5EF4-FFF2-40B4-BE49-F238E27FC236}">
                <a16:creationId xmlns:a16="http://schemas.microsoft.com/office/drawing/2014/main" id="{9286A5EA-8310-4F13-9A3B-6AC12F03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017"/>
          </a:bodyPr>
          <a:lstStyle xmlns:a="http://schemas.openxmlformats.org/drawingml/2006/main">
            <a:defPPr algn="ctr">
              <a:defRPr sz="150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PRIVATE INPUTS</a:t>
            </a:r>
          </a:p>
          <a:p xmlns:a="http://schemas.openxmlformats.org/drawingml/2006/main">
            <a:pPr algn="ctr">
              <a:defRPr sz="150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Secrets · salts · product · installed version</a:t>
            </a:r>
          </a:p>
        </p:txBody>
      </p:sp>
      <p:sp>
        <p:nvSpPr>
          <p:cNvPr id="26" name="midnight-public">
            <a:extLst xmlns:a="http://schemas.openxmlformats.org/drawingml/2006/main">
              <a:ext uri="{FF2B5EF4-FFF2-40B4-BE49-F238E27FC236}">
                <a16:creationId xmlns:a16="http://schemas.microsoft.com/office/drawing/2014/main" id="{896D0D74-79A9-44F7-B139-F4902D60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816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778"/>
          </a:bodyPr>
          <a:lstStyle xmlns:a="http://schemas.openxmlformats.org/drawingml/2006/main">
            <a:defPPr algn="ctr">
              <a:defRPr sz="150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PUBLIC STATE</a:t>
            </a:r>
          </a:p>
          <a:p xmlns:a="http://schemas.openxmlformats.org/drawingml/2006/main">
            <a:pPr algn="ctr">
              <a:defRPr sz="150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Opaque commitments · policy · nullifiers · accepted count</a:t>
            </a:r>
          </a:p>
        </p:txBody>
      </p:sp>
      <p:sp>
        <p:nvSpPr>
          <p:cNvPr id="27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E7EE4A7A-0683-41F9-A632-4C82B6ED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28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C851AEC5-1370-4C52-A9E0-EF85DF02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837044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671CD35A-1494-4B84-9419-83764878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E532E0C-0F97-4D59-B956-A61E171F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Role-separated workflow</a:t>
            </a:r>
          </a:p>
        </p:txBody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5D56BB53-E918-4106-85EA-769FB847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Selecting a workspace grants no authority; Compact verifies each role secret</a:t>
            </a:r>
          </a:p>
        </p:txBody>
      </p:sp>
      <p:sp>
        <p:nvSpPr>
          <p:cNvPr id="4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15D46AA6-7843-4C80-9157-1499B8B7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le-0-name">
            <a:extLst xmlns:a="http://schemas.openxmlformats.org/drawingml/2006/main">
              <a:ext uri="{FF2B5EF4-FFF2-40B4-BE49-F238E27FC236}">
                <a16:creationId xmlns:a16="http://schemas.microsoft.com/office/drawing/2014/main" id="{A16A3B35-0935-42FB-BF6A-8BE18AD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Registrar</a:t>
            </a:r>
          </a:p>
        </p:txBody>
      </p:sp>
      <p:sp>
        <p:nvSpPr>
          <p:cNvPr id="6" name="role-0-desc">
            <a:extLst xmlns:a="http://schemas.openxmlformats.org/drawingml/2006/main">
              <a:ext uri="{FF2B5EF4-FFF2-40B4-BE49-F238E27FC236}">
                <a16:creationId xmlns:a16="http://schemas.microsoft.com/office/drawing/2014/main" id="{6D3813B0-7687-4B27-80FA-28AB2DDD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372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Admits credentials and publishes affected releases</a:t>
            </a:r>
          </a:p>
        </p:txBody>
      </p:sp>
      <p:sp>
        <p:nvSpPr>
          <p:cNvPr id="7" name="role-0-line">
            <a:extLst xmlns:a="http://schemas.openxmlformats.org/drawingml/2006/main">
              <a:ext uri="{FF2B5EF4-FFF2-40B4-BE49-F238E27FC236}">
                <a16:creationId xmlns:a16="http://schemas.microsoft.com/office/drawing/2014/main" id="{9463B67B-9776-4E9F-A4A5-55B2C3C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-1-name">
            <a:extLst xmlns:a="http://schemas.openxmlformats.org/drawingml/2006/main">
              <a:ext uri="{FF2B5EF4-FFF2-40B4-BE49-F238E27FC236}">
                <a16:creationId xmlns:a16="http://schemas.microsoft.com/office/drawing/2014/main" id="{8B3AFEB6-E890-4ED7-976C-242B2DCF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Certifier</a:t>
            </a:r>
          </a:p>
        </p:txBody>
      </p:sp>
      <p:sp>
        <p:nvSpPr>
          <p:cNvPr id="9" name="role-1-desc">
            <a:extLst xmlns:a="http://schemas.openxmlformats.org/drawingml/2006/main">
              <a:ext uri="{FF2B5EF4-FFF2-40B4-BE49-F238E27FC236}">
                <a16:creationId xmlns:a16="http://schemas.microsoft.com/office/drawing/2014/main" id="{E42B5CC1-5C30-44FD-9771-7E3C7515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Commits a salted inventory snapshot before policy activation</a:t>
            </a:r>
          </a:p>
        </p:txBody>
      </p:sp>
      <p:sp>
        <p:nvSpPr>
          <p:cNvPr id="10" name="role-1-line">
            <a:extLst xmlns:a="http://schemas.openxmlformats.org/drawingml/2006/main">
              <a:ext uri="{FF2B5EF4-FFF2-40B4-BE49-F238E27FC236}">
                <a16:creationId xmlns:a16="http://schemas.microsoft.com/office/drawing/2014/main" id="{C7B6D3F8-2C59-4A51-9E1E-63531A4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393CED40-55FF-459A-B631-A6D88AB4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Member</a:t>
            </a:r>
          </a:p>
        </p:txBody>
      </p:sp>
      <p:sp>
        <p:nvSpPr>
          <p:cNvPr id="12" name="role-2-desc">
            <a:extLst xmlns:a="http://schemas.openxmlformats.org/drawingml/2006/main">
              <a:ext uri="{FF2B5EF4-FFF2-40B4-BE49-F238E27FC236}">
                <a16:creationId xmlns:a16="http://schemas.microsoft.com/office/drawing/2014/main" id="{F786CB7B-99D7-4820-9B9A-61C1F429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Scans locally and proves affected exposure in private</a:t>
            </a:r>
          </a:p>
        </p:txBody>
      </p:sp>
      <p:sp>
        <p:nvSpPr>
          <p:cNvPr id="13" name="role-2-line">
            <a:extLst xmlns:a="http://schemas.openxmlformats.org/drawingml/2006/main">
              <a:ext uri="{FF2B5EF4-FFF2-40B4-BE49-F238E27FC236}">
                <a16:creationId xmlns:a16="http://schemas.microsoft.com/office/drawing/2014/main" id="{7BB20CB4-B020-467F-A1BA-327D960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contract">
            <a:extLst xmlns:a="http://schemas.openxmlformats.org/drawingml/2006/main">
              <a:ext uri="{FF2B5EF4-FFF2-40B4-BE49-F238E27FC236}">
                <a16:creationId xmlns:a16="http://schemas.microsoft.com/office/drawing/2014/main" id="{1C68D00C-C5F1-471F-BDAB-DC56627E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333625" cy="2476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730"/>
          </a:solidFill>
          <a:ln xmlns:a="http://schemas.openxmlformats.org/drawingml/2006/main" w="9525">
            <a:solidFill>
              <a:srgbClr val="50D8E8"/>
            </a:solidFill>
            <a:prstDash val="solid"/>
          </a:ln>
        </p:spPr>
      </p:sp>
      <p:sp>
        <p:nvSpPr>
          <p:cNvPr id="15" name="role-contract-title">
            <a:extLst xmlns:a="http://schemas.openxmlformats.org/drawingml/2006/main">
              <a:ext uri="{FF2B5EF4-FFF2-40B4-BE49-F238E27FC236}">
                <a16:creationId xmlns:a16="http://schemas.microsoft.com/office/drawing/2014/main" id="{0A161CD5-EA56-41C5-88E4-29DDECBD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393"/>
          </a:bodyPr>
          <a:lstStyle xmlns:a="http://schemas.openxmlformats.org/drawingml/2006/main">
            <a:defPPr algn="ctr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CommonVeil</a:t>
            </a:r>
          </a:p>
          <a:p xmlns:a="http://schemas.openxmlformats.org/drawingml/2006/main">
            <a:pPr algn="ctr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Compact contract</a:t>
            </a:r>
          </a:p>
        </p:txBody>
      </p:sp>
      <p:sp>
        <p:nvSpPr>
          <p:cNvPr id="16" name="role-contract-state">
            <a:extLst xmlns:a="http://schemas.openxmlformats.org/drawingml/2006/main">
              <a:ext uri="{FF2B5EF4-FFF2-40B4-BE49-F238E27FC236}">
                <a16:creationId xmlns:a16="http://schemas.microsoft.com/office/drawing/2014/main" id="{87C6A830-D3CE-4B09-97F9-E64F0411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58"/>
          </a:bodyPr>
          <a:lstStyle xmlns:a="http://schemas.openxmlformats.org/drawingml/2006/main">
            <a:defPPr algn="ctr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Public accountability</a:t>
            </a:r>
          </a:p>
          <a:p xmlns:a="http://schemas.openxmlformats.org/drawingml/2006/main">
            <a:pPr algn="ctr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without public inventory</a:t>
            </a:r>
          </a:p>
        </p:txBody>
      </p:sp>
      <p:sp>
        <p:nvSpPr>
          <p:cNvPr id="17" name="role-observer">
            <a:extLst xmlns:a="http://schemas.openxmlformats.org/drawingml/2006/main">
              <a:ext uri="{FF2B5EF4-FFF2-40B4-BE49-F238E27FC236}">
                <a16:creationId xmlns:a16="http://schemas.microsoft.com/office/drawing/2014/main" id="{60974FDC-B9A9-4758-ACCC-D639DCEE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807"/>
          </a:bodyPr>
          <a:lstStyle xmlns:a="http://schemas.openxmlformats.org/drawingml/2006/main">
            <a:defPPr algn="ctr">
              <a:defRPr sz="16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Observer sees policy state, commitments, nullifiers and aggregate count</a:t>
            </a:r>
          </a:p>
        </p:txBody>
      </p:sp>
      <p:sp>
        <p:nvSpPr>
          <p:cNvPr id="18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C79171DA-41BD-4B22-95D1-40A1EA3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19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D68B6A67-7EFD-4B52-A706-D1AE0CFE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447653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03A25AE6-2618-4A99-9497-F9F8E2BE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FE8534B-7F23-4E58-9B36-DC03A5A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Wave 2 progress</a:t>
            </a:r>
          </a:p>
        </p:txBody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1F2ED1DE-B454-4A61-A5A0-71A5A1D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advanced from protocol proof to an operational multi-role product</a:t>
            </a:r>
          </a:p>
        </p:txBody>
      </p:sp>
      <p:sp>
        <p:nvSpPr>
          <p:cNvPr id="4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4CD00092-181A-434A-AD41-35686BE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ave-num-0">
            <a:extLst xmlns:a="http://schemas.openxmlformats.org/drawingml/2006/main">
              <a:ext uri="{FF2B5EF4-FFF2-40B4-BE49-F238E27FC236}">
                <a16:creationId xmlns:a16="http://schemas.microsoft.com/office/drawing/2014/main" id="{2FDD5534-7849-44B0-A35B-B696708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wave-title-0">
            <a:extLst xmlns:a="http://schemas.openxmlformats.org/drawingml/2006/main">
              <a:ext uri="{FF2B5EF4-FFF2-40B4-BE49-F238E27FC236}">
                <a16:creationId xmlns:a16="http://schemas.microsoft.com/office/drawing/2014/main" id="{43041634-87D6-4292-95A8-9BD9632B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43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Independent role workspaces</a:t>
            </a:r>
          </a:p>
        </p:txBody>
      </p:sp>
      <p:sp>
        <p:nvSpPr>
          <p:cNvPr id="7" name="wave-desc-0">
            <a:extLst xmlns:a="http://schemas.openxmlformats.org/drawingml/2006/main">
              <a:ext uri="{FF2B5EF4-FFF2-40B4-BE49-F238E27FC236}">
                <a16:creationId xmlns:a16="http://schemas.microsoft.com/office/drawing/2014/main" id="{D6B852DF-8170-4762-869A-0819F95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Registrar, Certifier and Member sessions</a:t>
            </a:r>
          </a:p>
        </p:txBody>
      </p:sp>
      <p:sp>
        <p:nvSpPr>
          <p:cNvPr id="8" name="wave-num-1">
            <a:extLst xmlns:a="http://schemas.openxmlformats.org/drawingml/2006/main">
              <a:ext uri="{FF2B5EF4-FFF2-40B4-BE49-F238E27FC236}">
                <a16:creationId xmlns:a16="http://schemas.microsoft.com/office/drawing/2014/main" id="{151D88C3-824F-4A8E-A854-F8AAC5B9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wave-title-1">
            <a:extLst xmlns:a="http://schemas.openxmlformats.org/drawingml/2006/main">
              <a:ext uri="{FF2B5EF4-FFF2-40B4-BE49-F238E27FC236}">
                <a16:creationId xmlns:a16="http://schemas.microsoft.com/office/drawing/2014/main" id="{C20BBC6C-EE88-4FB0-BE41-08DE89E0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43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Recoverable private identities</a:t>
            </a:r>
          </a:p>
        </p:txBody>
      </p:sp>
      <p:sp>
        <p:nvSpPr>
          <p:cNvPr id="10" name="wave-desc-1">
            <a:extLst xmlns:a="http://schemas.openxmlformats.org/drawingml/2006/main">
              <a:ext uri="{FF2B5EF4-FFF2-40B4-BE49-F238E27FC236}">
                <a16:creationId xmlns:a16="http://schemas.microsoft.com/office/drawing/2014/main" id="{4B7295D3-DF2E-4929-9A7E-5808F00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43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632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Encrypted packages and downloaded-backup tests</a:t>
            </a:r>
          </a:p>
        </p:txBody>
      </p:sp>
      <p:sp>
        <p:nvSpPr>
          <p:cNvPr id="11" name="wave-num-2">
            <a:extLst xmlns:a="http://schemas.openxmlformats.org/drawingml/2006/main">
              <a:ext uri="{FF2B5EF4-FFF2-40B4-BE49-F238E27FC236}">
                <a16:creationId xmlns:a16="http://schemas.microsoft.com/office/drawing/2014/main" id="{75FFBB90-EC6A-4365-81FF-8C6514FA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wave-title-2">
            <a:extLst xmlns:a="http://schemas.openxmlformats.org/drawingml/2006/main">
              <a:ext uri="{FF2B5EF4-FFF2-40B4-BE49-F238E27FC236}">
                <a16:creationId xmlns:a16="http://schemas.microsoft.com/office/drawing/2014/main" id="{F1042401-23B9-470B-B260-3F80829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81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Genuine host evidence</a:t>
            </a:r>
          </a:p>
        </p:txBody>
      </p:sp>
      <p:sp>
        <p:nvSpPr>
          <p:cNvPr id="13" name="wave-desc-2">
            <a:extLst xmlns:a="http://schemas.openxmlformats.org/drawingml/2006/main">
              <a:ext uri="{FF2B5EF4-FFF2-40B4-BE49-F238E27FC236}">
                <a16:creationId xmlns:a16="http://schemas.microsoft.com/office/drawing/2014/main" id="{AF79A8F1-4CBB-4691-9124-6C0C4BE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81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Package-manager scan with explicit provenance</a:t>
            </a:r>
          </a:p>
        </p:txBody>
      </p:sp>
      <p:sp>
        <p:nvSpPr>
          <p:cNvPr id="14" name="wave-num-3">
            <a:extLst xmlns:a="http://schemas.openxmlformats.org/drawingml/2006/main">
              <a:ext uri="{FF2B5EF4-FFF2-40B4-BE49-F238E27FC236}">
                <a16:creationId xmlns:a16="http://schemas.microsoft.com/office/drawing/2014/main" id="{8F39C0EB-9FA4-477A-8830-72C3FC3D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813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5" name="wave-title-3">
            <a:extLst xmlns:a="http://schemas.openxmlformats.org/drawingml/2006/main">
              <a:ext uri="{FF2B5EF4-FFF2-40B4-BE49-F238E27FC236}">
                <a16:creationId xmlns:a16="http://schemas.microsoft.com/office/drawing/2014/main" id="{E166951A-D730-42B6-A341-8FA1F80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81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Full policy lifecycle</a:t>
            </a:r>
          </a:p>
        </p:txBody>
      </p:sp>
      <p:sp>
        <p:nvSpPr>
          <p:cNvPr id="16" name="wave-desc-3">
            <a:extLst xmlns:a="http://schemas.openxmlformats.org/drawingml/2006/main">
              <a:ext uri="{FF2B5EF4-FFF2-40B4-BE49-F238E27FC236}">
                <a16:creationId xmlns:a16="http://schemas.microsoft.com/office/drawing/2014/main" id="{C8E6AE93-5B5A-4F13-AD40-6AF98D0C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81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Admission, certification and policy activation</a:t>
            </a:r>
          </a:p>
        </p:txBody>
      </p:sp>
      <p:sp>
        <p:nvSpPr>
          <p:cNvPr id="17" name="wave-num-4">
            <a:extLst xmlns:a="http://schemas.openxmlformats.org/drawingml/2006/main">
              <a:ext uri="{FF2B5EF4-FFF2-40B4-BE49-F238E27FC236}">
                <a16:creationId xmlns:a16="http://schemas.microsoft.com/office/drawing/2014/main" id="{CC2B4C56-6EB9-40AC-B077-4CA0FE0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8" name="wave-title-4">
            <a:extLst xmlns:a="http://schemas.openxmlformats.org/drawingml/2006/main">
              <a:ext uri="{FF2B5EF4-FFF2-40B4-BE49-F238E27FC236}">
                <a16:creationId xmlns:a16="http://schemas.microsoft.com/office/drawing/2014/main" id="{9246D200-6FDF-45AB-96B6-39FFAEE9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96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Private final evaluation</a:t>
            </a:r>
          </a:p>
        </p:txBody>
      </p:sp>
      <p:sp>
        <p:nvSpPr>
          <p:cNvPr id="19" name="wave-desc-4">
            <a:extLst xmlns:a="http://schemas.openxmlformats.org/drawingml/2006/main">
              <a:ext uri="{FF2B5EF4-FFF2-40B4-BE49-F238E27FC236}">
                <a16:creationId xmlns:a16="http://schemas.microsoft.com/office/drawing/2014/main" id="{E7D3D888-6D81-4338-9BAE-0092423B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96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Affected proof path plus honest negative outcome</a:t>
            </a:r>
          </a:p>
        </p:txBody>
      </p:sp>
      <p:sp>
        <p:nvSpPr>
          <p:cNvPr id="20" name="wave-num-5">
            <a:extLst xmlns:a="http://schemas.openxmlformats.org/drawingml/2006/main">
              <a:ext uri="{FF2B5EF4-FFF2-40B4-BE49-F238E27FC236}">
                <a16:creationId xmlns:a16="http://schemas.microsoft.com/office/drawing/2014/main" id="{9B17894D-E6E5-4D42-9B3A-A8FC9FD1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96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1" name="wave-title-5">
            <a:extLst xmlns:a="http://schemas.openxmlformats.org/drawingml/2006/main">
              <a:ext uri="{FF2B5EF4-FFF2-40B4-BE49-F238E27FC236}">
                <a16:creationId xmlns:a16="http://schemas.microsoft.com/office/drawing/2014/main" id="{D7094BE3-F9AC-4E27-803E-00DB5A8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96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Operational resilience</a:t>
            </a:r>
          </a:p>
        </p:txBody>
      </p:sp>
      <p:sp>
        <p:nvSpPr>
          <p:cNvPr id="22" name="wave-desc-5">
            <a:extLst xmlns:a="http://schemas.openxmlformats.org/drawingml/2006/main">
              <a:ext uri="{FF2B5EF4-FFF2-40B4-BE49-F238E27FC236}">
                <a16:creationId xmlns:a16="http://schemas.microsoft.com/office/drawing/2014/main" id="{A11A1779-38CF-4C5D-83B5-21204769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96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Blockfrost migration, retries and safe errors</a:t>
            </a:r>
          </a:p>
        </p:txBody>
      </p:sp>
      <p:sp>
        <p:nvSpPr>
          <p:cNvPr id="23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413B4380-BE77-4574-A93B-280D90A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24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C1B929DB-DD60-4E55-B569-EBB48C2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553131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7F6BA43C-92BB-49B0-8C10-8FF50C6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7FC469B-B218-4C9A-93A5-28E3A0D6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Engineering evidence</a:t>
            </a:r>
          </a:p>
        </p:txBody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0C59A929-EB5D-43A8-A218-25DCE4AD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Real Compact execution, wallet approval and Preprod state transitions</a:t>
            </a:r>
          </a:p>
        </p:txBody>
      </p:sp>
      <p:sp>
        <p:nvSpPr>
          <p:cNvPr id="4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2F8C8222-02A0-4701-9730-FEB4DD6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D1F5052B-23AB-4A5C-8F48-AC1110D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900C782A-47B4-4D9E-A5F1-060793DB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Compact circuits</a:t>
            </a:r>
          </a:p>
        </p:txBody>
      </p:sp>
      <p:sp>
        <p:nvSpPr>
          <p:cNvPr id="7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EA7DE692-A3D9-4AD9-85DC-4D2704E2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517AF5E-02C5-4696-AC36-C53F7E74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Operational roles</a:t>
            </a:r>
          </a:p>
        </p:txBody>
      </p:sp>
      <p:sp>
        <p:nvSpPr>
          <p:cNvPr id="9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0BCEFBBC-47DB-425E-90DB-B18E118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CE5AF9D3-6655-409F-B1FD-7916923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279"/>
          </a:bodyPr>
          <a:lstStyle xmlns:a="http://schemas.openxmlformats.org/drawingml/2006/main">
            <a:def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Separated evidence runs</a:t>
            </a:r>
          </a:p>
        </p:txBody>
      </p:sp>
      <p:sp>
        <p:nvSpPr>
          <p:cNvPr id="11" name="stat-value-3">
            <a:extLst xmlns:a="http://schemas.openxmlformats.org/drawingml/2006/main">
              <a:ext uri="{FF2B5EF4-FFF2-40B4-BE49-F238E27FC236}">
                <a16:creationId xmlns:a16="http://schemas.microsoft.com/office/drawing/2014/main" id="{E1D01CC4-852C-44A0-BDD5-572BDF3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37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37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DAA39B36-DF6A-4807-91DA-2EBE94E3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Fabricated results</a:t>
            </a:r>
          </a:p>
        </p:txBody>
      </p:sp>
      <p:sp>
        <p:nvSpPr>
          <p:cNvPr id="13" name="eng-1-mark">
            <a:extLst xmlns:a="http://schemas.openxmlformats.org/drawingml/2006/main">
              <a:ext uri="{FF2B5EF4-FFF2-40B4-BE49-F238E27FC236}">
                <a16:creationId xmlns:a16="http://schemas.microsoft.com/office/drawing/2014/main" id="{00ADFA34-618D-40E5-8432-292C226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ng-1">
            <a:extLst xmlns:a="http://schemas.openxmlformats.org/drawingml/2006/main">
              <a:ext uri="{FF2B5EF4-FFF2-40B4-BE49-F238E27FC236}">
                <a16:creationId xmlns:a16="http://schemas.microsoft.com/office/drawing/2014/main" id="{3E19FD79-D267-4839-B372-64EE7CD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Compact compiler 0.31.1 generates the contract, keys and ZK-IR</a:t>
            </a:r>
          </a:p>
        </p:txBody>
      </p:sp>
      <p:sp>
        <p:nvSpPr>
          <p:cNvPr id="15" name="eng-2-mark">
            <a:extLst xmlns:a="http://schemas.openxmlformats.org/drawingml/2006/main">
              <a:ext uri="{FF2B5EF4-FFF2-40B4-BE49-F238E27FC236}">
                <a16:creationId xmlns:a16="http://schemas.microsoft.com/office/drawing/2014/main" id="{31434271-963F-44D5-9B0F-83DA94D4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ng-2">
            <a:extLst xmlns:a="http://schemas.openxmlformats.org/drawingml/2006/main">
              <a:ext uri="{FF2B5EF4-FFF2-40B4-BE49-F238E27FC236}">
                <a16:creationId xmlns:a16="http://schemas.microsoft.com/office/drawing/2014/main" id="{5AB51C17-5334-4AD6-AB12-16C4290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1AM balances and submits operator-approved transactions on Midnight Preprod</a:t>
            </a:r>
          </a:p>
        </p:txBody>
      </p:sp>
      <p:sp>
        <p:nvSpPr>
          <p:cNvPr id="17" name="eng-3-mark">
            <a:extLst xmlns:a="http://schemas.openxmlformats.org/drawingml/2006/main">
              <a:ext uri="{FF2B5EF4-FFF2-40B4-BE49-F238E27FC236}">
                <a16:creationId xmlns:a16="http://schemas.microsoft.com/office/drawing/2014/main" id="{200A4E4D-1003-4714-8FC0-76E40FD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ng-3">
            <a:extLst xmlns:a="http://schemas.openxmlformats.org/drawingml/2006/main">
              <a:ext uri="{FF2B5EF4-FFF2-40B4-BE49-F238E27FC236}">
                <a16:creationId xmlns:a16="http://schemas.microsoft.com/office/drawing/2014/main" id="{A9453602-00F1-4045-A1B6-848A8E40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Regression suites cover circuits, packages, providers, scanner logic and workflow state</a:t>
            </a:r>
          </a:p>
        </p:txBody>
      </p:sp>
      <p:sp>
        <p:nvSpPr>
          <p:cNvPr id="19" name="eng-4-mark">
            <a:extLst xmlns:a="http://schemas.openxmlformats.org/drawingml/2006/main">
              <a:ext uri="{FF2B5EF4-FFF2-40B4-BE49-F238E27FC236}">
                <a16:creationId xmlns:a16="http://schemas.microsoft.com/office/drawing/2014/main" id="{E87993CF-100A-4648-B04D-1D6D51A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3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ng-4">
            <a:extLst xmlns:a="http://schemas.openxmlformats.org/drawingml/2006/main">
              <a:ext uri="{FF2B5EF4-FFF2-40B4-BE49-F238E27FC236}">
                <a16:creationId xmlns:a16="http://schemas.microsoft.com/office/drawing/2014/main" id="{093486C7-E898-4FA3-BADF-1AE0874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Live-network claims remain separate from local automated verification</a:t>
            </a:r>
          </a:p>
        </p:txBody>
      </p:sp>
      <p:sp>
        <p:nvSpPr>
          <p:cNvPr id="21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6B3745B3-5C03-475B-A3A6-F0172115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22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57631FCB-9664-4D9B-8D1A-6578B1DE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800568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798157D9-1D7C-48DF-B725-9732F652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4AB2F05-4790-4AD6-A65B-1A769339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Positive protocol reference</a:t>
            </a:r>
          </a:p>
        </p:txBody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16312E57-C607-4F9D-A469-263EE9CA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A controlled affected input exercised the complete path on Midnight Preprod</a:t>
            </a:r>
          </a:p>
        </p:txBody>
      </p:sp>
      <p:sp>
        <p:nvSpPr>
          <p:cNvPr id="4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7DB9343B-B7C7-4EC2-AD88-B460483D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p-0-name">
            <a:extLst xmlns:a="http://schemas.openxmlformats.org/drawingml/2006/main">
              <a:ext uri="{FF2B5EF4-FFF2-40B4-BE49-F238E27FC236}">
                <a16:creationId xmlns:a16="http://schemas.microsoft.com/office/drawing/2014/main" id="{6A41FCFD-CE10-44BC-946A-67E08A4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Deploy</a:t>
            </a:r>
          </a:p>
        </p:txBody>
      </p:sp>
      <p:sp>
        <p:nvSpPr>
          <p:cNvPr id="6" name="op-0-tx">
            <a:extLst xmlns:a="http://schemas.openxmlformats.org/drawingml/2006/main">
              <a:ext uri="{FF2B5EF4-FFF2-40B4-BE49-F238E27FC236}">
                <a16:creationId xmlns:a16="http://schemas.microsoft.com/office/drawing/2014/main" id="{36BB0EFD-87F8-4C8E-8259-0F3B9B6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00446828…af9c</a:t>
            </a:r>
          </a:p>
        </p:txBody>
      </p:sp>
      <p:sp>
        <p:nvSpPr>
          <p:cNvPr id="7" name="op-0-status">
            <a:extLst xmlns:a="http://schemas.openxmlformats.org/drawingml/2006/main">
              <a:ext uri="{FF2B5EF4-FFF2-40B4-BE49-F238E27FC236}">
                <a16:creationId xmlns:a16="http://schemas.microsoft.com/office/drawing/2014/main" id="{D719799E-CA58-40C2-8A87-0F1D609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FINALIZED</a:t>
            </a:r>
          </a:p>
        </p:txBody>
      </p:sp>
      <p:sp>
        <p:nvSpPr>
          <p:cNvPr id="8" name="op-0-rule">
            <a:extLst xmlns:a="http://schemas.openxmlformats.org/drawingml/2006/main">
              <a:ext uri="{FF2B5EF4-FFF2-40B4-BE49-F238E27FC236}">
                <a16:creationId xmlns:a16="http://schemas.microsoft.com/office/drawing/2014/main" id="{8E0A4DBD-1345-49F6-9DC1-F08BCD97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p-1-name">
            <a:extLst xmlns:a="http://schemas.openxmlformats.org/drawingml/2006/main">
              <a:ext uri="{FF2B5EF4-FFF2-40B4-BE49-F238E27FC236}">
                <a16:creationId xmlns:a16="http://schemas.microsoft.com/office/drawing/2014/main" id="{8322FB53-70DC-4B2B-8829-060BB66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Admit Member</a:t>
            </a:r>
          </a:p>
        </p:txBody>
      </p:sp>
      <p:sp>
        <p:nvSpPr>
          <p:cNvPr id="10" name="op-1-tx">
            <a:extLst xmlns:a="http://schemas.openxmlformats.org/drawingml/2006/main">
              <a:ext uri="{FF2B5EF4-FFF2-40B4-BE49-F238E27FC236}">
                <a16:creationId xmlns:a16="http://schemas.microsoft.com/office/drawing/2014/main" id="{6FD827FC-38B2-4539-A9B5-E2C1D579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00ed9c01…f0ec</a:t>
            </a:r>
          </a:p>
        </p:txBody>
      </p:sp>
      <p:sp>
        <p:nvSpPr>
          <p:cNvPr id="11" name="op-1-status">
            <a:extLst xmlns:a="http://schemas.openxmlformats.org/drawingml/2006/main">
              <a:ext uri="{FF2B5EF4-FFF2-40B4-BE49-F238E27FC236}">
                <a16:creationId xmlns:a16="http://schemas.microsoft.com/office/drawing/2014/main" id="{EBE7CAAA-ACE8-4ED9-93E6-34CA95B7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FINALIZED</a:t>
            </a:r>
          </a:p>
        </p:txBody>
      </p:sp>
      <p:sp>
        <p:nvSpPr>
          <p:cNvPr id="12" name="op-1-rule">
            <a:extLst xmlns:a="http://schemas.openxmlformats.org/drawingml/2006/main">
              <a:ext uri="{FF2B5EF4-FFF2-40B4-BE49-F238E27FC236}">
                <a16:creationId xmlns:a16="http://schemas.microsoft.com/office/drawing/2014/main" id="{FFB596CF-90CC-46AA-9917-97888A3D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p-2-name">
            <a:extLst xmlns:a="http://schemas.openxmlformats.org/drawingml/2006/main">
              <a:ext uri="{FF2B5EF4-FFF2-40B4-BE49-F238E27FC236}">
                <a16:creationId xmlns:a16="http://schemas.microsoft.com/office/drawing/2014/main" id="{79FC86EC-1A51-4665-B412-D76E65E0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Certify inventory</a:t>
            </a:r>
          </a:p>
        </p:txBody>
      </p:sp>
      <p:sp>
        <p:nvSpPr>
          <p:cNvPr id="14" name="op-2-tx">
            <a:extLst xmlns:a="http://schemas.openxmlformats.org/drawingml/2006/main">
              <a:ext uri="{FF2B5EF4-FFF2-40B4-BE49-F238E27FC236}">
                <a16:creationId xmlns:a16="http://schemas.microsoft.com/office/drawing/2014/main" id="{B0F55DCF-65DB-4C3C-9B24-BDBE0DD7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00162a6c…f66b</a:t>
            </a:r>
          </a:p>
        </p:txBody>
      </p:sp>
      <p:sp>
        <p:nvSpPr>
          <p:cNvPr id="15" name="op-2-status">
            <a:extLst xmlns:a="http://schemas.openxmlformats.org/drawingml/2006/main">
              <a:ext uri="{FF2B5EF4-FFF2-40B4-BE49-F238E27FC236}">
                <a16:creationId xmlns:a16="http://schemas.microsoft.com/office/drawing/2014/main" id="{334A0336-9E2A-4045-BD25-8601505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FINALIZED</a:t>
            </a:r>
          </a:p>
        </p:txBody>
      </p:sp>
      <p:sp>
        <p:nvSpPr>
          <p:cNvPr id="16" name="op-2-rule">
            <a:extLst xmlns:a="http://schemas.openxmlformats.org/drawingml/2006/main">
              <a:ext uri="{FF2B5EF4-FFF2-40B4-BE49-F238E27FC236}">
                <a16:creationId xmlns:a16="http://schemas.microsoft.com/office/drawing/2014/main" id="{0EAA0025-6B65-4F70-8584-9755461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-3-name">
            <a:extLst xmlns:a="http://schemas.openxmlformats.org/drawingml/2006/main">
              <a:ext uri="{FF2B5EF4-FFF2-40B4-BE49-F238E27FC236}">
                <a16:creationId xmlns:a16="http://schemas.microsoft.com/office/drawing/2014/main" id="{5C5333D5-1CA8-4865-B432-1FC0787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Register 5.6.0</a:t>
            </a:r>
          </a:p>
        </p:txBody>
      </p:sp>
      <p:sp>
        <p:nvSpPr>
          <p:cNvPr id="18" name="op-3-tx">
            <a:extLst xmlns:a="http://schemas.openxmlformats.org/drawingml/2006/main">
              <a:ext uri="{FF2B5EF4-FFF2-40B4-BE49-F238E27FC236}">
                <a16:creationId xmlns:a16="http://schemas.microsoft.com/office/drawing/2014/main" id="{30AC05A9-EF78-4F14-BEF4-1E9365EF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00ddf48a…58ea</a:t>
            </a:r>
          </a:p>
        </p:txBody>
      </p:sp>
      <p:sp>
        <p:nvSpPr>
          <p:cNvPr id="19" name="op-3-status">
            <a:extLst xmlns:a="http://schemas.openxmlformats.org/drawingml/2006/main">
              <a:ext uri="{FF2B5EF4-FFF2-40B4-BE49-F238E27FC236}">
                <a16:creationId xmlns:a16="http://schemas.microsoft.com/office/drawing/2014/main" id="{76D7D37C-4969-4655-8DB6-44B3B6D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FINALIZED</a:t>
            </a:r>
          </a:p>
        </p:txBody>
      </p:sp>
      <p:sp>
        <p:nvSpPr>
          <p:cNvPr id="20" name="op-3-rule">
            <a:extLst xmlns:a="http://schemas.openxmlformats.org/drawingml/2006/main">
              <a:ext uri="{FF2B5EF4-FFF2-40B4-BE49-F238E27FC236}">
                <a16:creationId xmlns:a16="http://schemas.microsoft.com/office/drawing/2014/main" id="{725402B1-510D-4279-85B3-C66C3AF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-4-name">
            <a:extLst xmlns:a="http://schemas.openxmlformats.org/drawingml/2006/main">
              <a:ext uri="{FF2B5EF4-FFF2-40B4-BE49-F238E27FC236}">
                <a16:creationId xmlns:a16="http://schemas.microsoft.com/office/drawing/2014/main" id="{6C99FF69-2E31-4BAA-AA16-F54FF697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Register 5.6.1</a:t>
            </a:r>
          </a:p>
        </p:txBody>
      </p:sp>
      <p:sp>
        <p:nvSpPr>
          <p:cNvPr id="22" name="op-4-tx">
            <a:extLst xmlns:a="http://schemas.openxmlformats.org/drawingml/2006/main">
              <a:ext uri="{FF2B5EF4-FFF2-40B4-BE49-F238E27FC236}">
                <a16:creationId xmlns:a16="http://schemas.microsoft.com/office/drawing/2014/main" id="{B7B82163-F1F4-4A38-B232-00F7F3E2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00e7b17f…1887</a:t>
            </a:r>
          </a:p>
        </p:txBody>
      </p:sp>
      <p:sp>
        <p:nvSpPr>
          <p:cNvPr id="23" name="op-4-status">
            <a:extLst xmlns:a="http://schemas.openxmlformats.org/drawingml/2006/main">
              <a:ext uri="{FF2B5EF4-FFF2-40B4-BE49-F238E27FC236}">
                <a16:creationId xmlns:a16="http://schemas.microsoft.com/office/drawing/2014/main" id="{8BE33D17-3957-41BE-B998-9E66F6ED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FINALIZED</a:t>
            </a:r>
          </a:p>
        </p:txBody>
      </p:sp>
      <p:sp>
        <p:nvSpPr>
          <p:cNvPr id="24" name="op-4-rule">
            <a:extLst xmlns:a="http://schemas.openxmlformats.org/drawingml/2006/main">
              <a:ext uri="{FF2B5EF4-FFF2-40B4-BE49-F238E27FC236}">
                <a16:creationId xmlns:a16="http://schemas.microsoft.com/office/drawing/2014/main" id="{92CCF55E-0A76-43C8-9331-AE3550D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p-5-name">
            <a:extLst xmlns:a="http://schemas.openxmlformats.org/drawingml/2006/main">
              <a:ext uri="{FF2B5EF4-FFF2-40B4-BE49-F238E27FC236}">
                <a16:creationId xmlns:a16="http://schemas.microsoft.com/office/drawing/2014/main" id="{986F0F8E-B97E-4987-B86F-779958A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Private attest</a:t>
            </a:r>
          </a:p>
        </p:txBody>
      </p:sp>
      <p:sp>
        <p:nvSpPr>
          <p:cNvPr id="26" name="op-5-tx">
            <a:extLst xmlns:a="http://schemas.openxmlformats.org/drawingml/2006/main">
              <a:ext uri="{FF2B5EF4-FFF2-40B4-BE49-F238E27FC236}">
                <a16:creationId xmlns:a16="http://schemas.microsoft.com/office/drawing/2014/main" id="{CB70ED7F-5C3D-4558-927F-6A31E73B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009c158f…ad47</a:t>
            </a:r>
          </a:p>
        </p:txBody>
      </p:sp>
      <p:sp>
        <p:nvSpPr>
          <p:cNvPr id="27" name="op-5-status">
            <a:extLst xmlns:a="http://schemas.openxmlformats.org/drawingml/2006/main">
              <a:ext uri="{FF2B5EF4-FFF2-40B4-BE49-F238E27FC236}">
                <a16:creationId xmlns:a16="http://schemas.microsoft.com/office/drawing/2014/main" id="{C80E881E-A8F9-45EE-B7A3-99AF5BB1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FINALIZED</a:t>
            </a:r>
          </a:p>
        </p:txBody>
      </p:sp>
      <p:sp>
        <p:nvSpPr>
          <p:cNvPr id="28" name="positive-boundary">
            <a:extLst xmlns:a="http://schemas.openxmlformats.org/drawingml/2006/main">
              <a:ext uri="{FF2B5EF4-FFF2-40B4-BE49-F238E27FC236}">
                <a16:creationId xmlns:a16="http://schemas.microsoft.com/office/drawing/2014/main" id="{9100AB5D-4B5F-4408-B1F2-248F277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44"/>
          </a:bodyPr>
          <a:lstStyle xmlns:a="http://schemas.openxmlformats.org/drawingml/2006/main">
            <a:defPPr algn="ctr">
              <a:defRPr sz="1275" b="1">
                <a:solidFill>
                  <a:srgbClr val="F5C6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5C66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5C66A"/>
                </a:solidFill>
                <a:latin typeface="DejaVu Sans"/>
                <a:ea typeface="DejaVu Sans"/>
                <a:cs typeface="DejaVu Sans"/>
              </a:rPr>
              <a:t>Controlled 5.6.1 input demonstrated protocol behavior. It does not claim the test computer was exposed.</a:t>
            </a:r>
          </a:p>
        </p:txBody>
      </p:sp>
      <p:sp>
        <p:nvSpPr>
          <p:cNvPr id="29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057D8140-DDE0-46DF-A7B3-6D539D3F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30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2C8F3F3A-E998-426C-9696-4E9B3438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309937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221495EF-3B12-4015-8420-F4EF592E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3577CF1-A7C5-4EDE-9787-D61464E0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Genuine host result</a:t>
            </a:r>
          </a:p>
        </p:txBody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27803DDC-EB3F-4E2F-BC74-EB76E58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preserved the measured value and blocked a false exposure claim</a:t>
            </a:r>
          </a:p>
        </p:txBody>
      </p:sp>
      <p:sp>
        <p:nvSpPr>
          <p:cNvPr id="4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F6C3CC32-3536-44BE-BC2F-DC37C938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A8D92-7F0E-48C7-9855-23CF0010F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39d44d6614525"/>
          <a:stretch xmlns:a="http://schemas.openxmlformats.org/drawingml/2006/main"/>
        </p:blipFill>
        <p:spPr>
          <a:xfrm xmlns:a="http://schemas.openxmlformats.org/drawingml/2006/main">
            <a:off x="6787727" y="1952625"/>
            <a:ext cx="385529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live-provenance">
            <a:extLst xmlns:a="http://schemas.openxmlformats.org/drawingml/2006/main">
              <a:ext uri="{FF2B5EF4-FFF2-40B4-BE49-F238E27FC236}">
                <a16:creationId xmlns:a16="http://schemas.microsoft.com/office/drawing/2014/main" id="{92254273-5196-4B21-A70F-0756553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PROVENANCE</a:t>
            </a:r>
          </a:p>
        </p:txBody>
      </p:sp>
      <p:sp>
        <p:nvSpPr>
          <p:cNvPr id="7" name="live-provenance-value">
            <a:extLst xmlns:a="http://schemas.openxmlformats.org/drawingml/2006/main">
              <a:ext uri="{FF2B5EF4-FFF2-40B4-BE49-F238E27FC236}">
                <a16:creationId xmlns:a16="http://schemas.microsoft.com/office/drawing/2014/main" id="{786919C2-329A-4DE6-BE7F-A49C229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live-host-scan</a:t>
            </a:r>
          </a:p>
        </p:txBody>
      </p:sp>
      <p:sp>
        <p:nvSpPr>
          <p:cNvPr id="8" name="live-observed">
            <a:extLst xmlns:a="http://schemas.openxmlformats.org/drawingml/2006/main">
              <a:ext uri="{FF2B5EF4-FFF2-40B4-BE49-F238E27FC236}">
                <a16:creationId xmlns:a16="http://schemas.microsoft.com/office/drawing/2014/main" id="{F10BE1B6-4BC8-4BA5-8BAB-265D099A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OBSERVED</a:t>
            </a:r>
          </a:p>
        </p:txBody>
      </p:sp>
      <p:sp>
        <p:nvSpPr>
          <p:cNvPr id="9" name="live-observed-value">
            <a:extLst xmlns:a="http://schemas.openxmlformats.org/drawingml/2006/main">
              <a:ext uri="{FF2B5EF4-FFF2-40B4-BE49-F238E27FC236}">
                <a16:creationId xmlns:a16="http://schemas.microsoft.com/office/drawing/2014/main" id="{60AF9FE4-F581-4742-9CD3-1E8A184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XZ Utils 5.2.5</a:t>
            </a:r>
          </a:p>
        </p:txBody>
      </p:sp>
      <p:sp>
        <p:nvSpPr>
          <p:cNvPr id="10" name="live-policy">
            <a:extLst xmlns:a="http://schemas.openxmlformats.org/drawingml/2006/main">
              <a:ext uri="{FF2B5EF4-FFF2-40B4-BE49-F238E27FC236}">
                <a16:creationId xmlns:a16="http://schemas.microsoft.com/office/drawing/2014/main" id="{75E21F61-8CBC-4246-A660-7075AA5C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REGISTERED POLICY</a:t>
            </a:r>
          </a:p>
        </p:txBody>
      </p:sp>
      <p:sp>
        <p:nvSpPr>
          <p:cNvPr id="11" name="live-policy-value">
            <a:extLst xmlns:a="http://schemas.openxmlformats.org/drawingml/2006/main">
              <a:ext uri="{FF2B5EF4-FFF2-40B4-BE49-F238E27FC236}">
                <a16:creationId xmlns:a16="http://schemas.microsoft.com/office/drawing/2014/main" id="{05F3B331-D593-40AA-819C-B45D2646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CVE-2024-3094 · 5.6.0</a:t>
            </a:r>
          </a:p>
        </p:txBody>
      </p:sp>
      <p:sp>
        <p:nvSpPr>
          <p:cNvPr id="12" name="live-result">
            <a:extLst xmlns:a="http://schemas.openxmlformats.org/drawingml/2006/main">
              <a:ext uri="{FF2B5EF4-FFF2-40B4-BE49-F238E27FC236}">
                <a16:creationId xmlns:a16="http://schemas.microsoft.com/office/drawing/2014/main" id="{3D5E0148-71BF-49B7-BA6B-A2ED3AE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62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>
            <a:defPPr algn="l">
              <a:defRPr sz="22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UN AFFECTED</a:t>
            </a:r>
          </a:p>
        </p:txBody>
      </p:sp>
      <p:sp>
        <p:nvSpPr>
          <p:cNvPr id="13" name="live-result-note">
            <a:extLst xmlns:a="http://schemas.openxmlformats.org/drawingml/2006/main">
              <a:ext uri="{FF2B5EF4-FFF2-40B4-BE49-F238E27FC236}">
                <a16:creationId xmlns:a16="http://schemas.microsoft.com/office/drawing/2014/main" id="{6CD88F53-06ED-4D5A-B984-D47B455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>
            <a:def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No wallet approval. No attestation. No nullifier. No invented success.</a:t>
            </a:r>
          </a:p>
        </p:txBody>
      </p:sp>
      <p:sp>
        <p:nvSpPr>
          <p:cNvPr id="14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BD891FF7-B1F0-4CD4-81E7-763B500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15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43B18B38-109C-482A-87A8-8481B57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1054475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8286C465-764C-499E-8D4B-FEC8E62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B643118-EF1F-48DA-B52E-8D02E9DE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Privacy and accountability</a:t>
            </a:r>
          </a:p>
        </p:txBody>
      </p:sp>
      <p:sp>
        <p:nvSpPr>
          <p:cNvPr id="3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FAF6583F-BA9C-4A02-A2B6-A5D65377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The protocol exposes enough state to verify outcomes without publishing inventory</a:t>
            </a:r>
          </a:p>
        </p:txBody>
      </p:sp>
      <p:sp>
        <p:nvSpPr>
          <p:cNvPr id="4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864A38BD-6D41-4999-A426-E505127C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ivacy-private-title">
            <a:extLst xmlns:a="http://schemas.openxmlformats.org/drawingml/2006/main">
              <a:ext uri="{FF2B5EF4-FFF2-40B4-BE49-F238E27FC236}">
                <a16:creationId xmlns:a16="http://schemas.microsoft.com/office/drawing/2014/main" id="{8CE05AD1-2D3E-4F2A-AE94-C9B4F76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8D7A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58D7A2"/>
                </a:solidFill>
                <a:latin typeface="DejaVu Sans"/>
                <a:ea typeface="DejaVu Sans"/>
                <a:cs typeface="DejaVu Sans"/>
              </a:rPr>
              <a:t>Private or encrypted</a:t>
            </a:r>
          </a:p>
        </p:txBody>
      </p:sp>
      <p:sp>
        <p:nvSpPr>
          <p:cNvPr id="6" name="privacy-p1-mark">
            <a:extLst xmlns:a="http://schemas.openxmlformats.org/drawingml/2006/main">
              <a:ext uri="{FF2B5EF4-FFF2-40B4-BE49-F238E27FC236}">
                <a16:creationId xmlns:a16="http://schemas.microsoft.com/office/drawing/2014/main" id="{9B83450D-9E18-4431-859F-DC809FC5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ivacy-p1">
            <a:extLst xmlns:a="http://schemas.openxmlformats.org/drawingml/2006/main">
              <a:ext uri="{FF2B5EF4-FFF2-40B4-BE49-F238E27FC236}">
                <a16:creationId xmlns:a16="http://schemas.microsoft.com/office/drawing/2014/main" id="{48D84035-46F0-4DA5-8B5B-FA662F1A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813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Organizational identity and full inventory</a:t>
            </a:r>
          </a:p>
        </p:txBody>
      </p:sp>
      <p:sp>
        <p:nvSpPr>
          <p:cNvPr id="8" name="privacy-p2-mark">
            <a:extLst xmlns:a="http://schemas.openxmlformats.org/drawingml/2006/main">
              <a:ext uri="{FF2B5EF4-FFF2-40B4-BE49-F238E27FC236}">
                <a16:creationId xmlns:a16="http://schemas.microsoft.com/office/drawing/2014/main" id="{E7609D9E-7BF2-4AB0-9C2C-A3D2107C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vacy-p2">
            <a:extLst xmlns:a="http://schemas.openxmlformats.org/drawingml/2006/main">
              <a:ext uri="{FF2B5EF4-FFF2-40B4-BE49-F238E27FC236}">
                <a16:creationId xmlns:a16="http://schemas.microsoft.com/office/drawing/2014/main" id="{EE8E432E-AA83-4C71-9EBB-4EBCA3A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290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Role secrets, Member salt and snapshot salt</a:t>
            </a:r>
          </a:p>
        </p:txBody>
      </p:sp>
      <p:sp>
        <p:nvSpPr>
          <p:cNvPr id="10" name="privacy-p3-mark">
            <a:extLst xmlns:a="http://schemas.openxmlformats.org/drawingml/2006/main">
              <a:ext uri="{FF2B5EF4-FFF2-40B4-BE49-F238E27FC236}">
                <a16:creationId xmlns:a16="http://schemas.microsoft.com/office/drawing/2014/main" id="{58593D5D-C586-4057-B225-B44B176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vacy-p3">
            <a:extLst xmlns:a="http://schemas.openxmlformats.org/drawingml/2006/main">
              <a:ext uri="{FF2B5EF4-FFF2-40B4-BE49-F238E27FC236}">
                <a16:creationId xmlns:a16="http://schemas.microsoft.com/office/drawing/2014/main" id="{958D97E6-1D30-46FB-8EAE-9EDFBB3A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767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2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Product and installed version during attestation</a:t>
            </a:r>
          </a:p>
        </p:txBody>
      </p:sp>
      <p:sp>
        <p:nvSpPr>
          <p:cNvPr id="12" name="privacy-p4-mark">
            <a:extLst xmlns:a="http://schemas.openxmlformats.org/drawingml/2006/main">
              <a:ext uri="{FF2B5EF4-FFF2-40B4-BE49-F238E27FC236}">
                <a16:creationId xmlns:a16="http://schemas.microsoft.com/office/drawing/2014/main" id="{91DA8A48-320E-421B-B0DA-F474D22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vacy-p4">
            <a:extLst xmlns:a="http://schemas.openxmlformats.org/drawingml/2006/main">
              <a:ext uri="{FF2B5EF4-FFF2-40B4-BE49-F238E27FC236}">
                <a16:creationId xmlns:a16="http://schemas.microsoft.com/office/drawing/2014/main" id="{DBC66826-E1AA-4627-83A7-22146BA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244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Backup passwords and encrypted package plaintext</a:t>
            </a:r>
          </a:p>
        </p:txBody>
      </p:sp>
      <p:sp>
        <p:nvSpPr>
          <p:cNvPr id="14" name="privacy-divider">
            <a:extLst xmlns:a="http://schemas.openxmlformats.org/drawingml/2006/main">
              <a:ext uri="{FF2B5EF4-FFF2-40B4-BE49-F238E27FC236}">
                <a16:creationId xmlns:a16="http://schemas.microsoft.com/office/drawing/2014/main" id="{0D68B4CE-9A16-45E1-A09B-B4595C24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ivacy-public-title">
            <a:extLst xmlns:a="http://schemas.openxmlformats.org/drawingml/2006/main">
              <a:ext uri="{FF2B5EF4-FFF2-40B4-BE49-F238E27FC236}">
                <a16:creationId xmlns:a16="http://schemas.microsoft.com/office/drawing/2014/main" id="{DD4DEF88-2137-4169-B745-5598E9BE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43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Public on Midnight</a:t>
            </a:r>
          </a:p>
        </p:txBody>
      </p:sp>
      <p:sp>
        <p:nvSpPr>
          <p:cNvPr id="16" name="privacy-u1-mark">
            <a:extLst xmlns:a="http://schemas.openxmlformats.org/drawingml/2006/main">
              <a:ext uri="{FF2B5EF4-FFF2-40B4-BE49-F238E27FC236}">
                <a16:creationId xmlns:a16="http://schemas.microsoft.com/office/drawing/2014/main" id="{99D62E45-E1B0-4C6D-B67E-FCE9327D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ivacy-u1">
            <a:extLst xmlns:a="http://schemas.openxmlformats.org/drawingml/2006/main">
              <a:ext uri="{FF2B5EF4-FFF2-40B4-BE49-F238E27FC236}">
                <a16:creationId xmlns:a16="http://schemas.microsoft.com/office/drawing/2014/main" id="{052B8143-BC40-438A-9A46-8937793E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813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Derived role keys and opaque credentials</a:t>
            </a:r>
          </a:p>
        </p:txBody>
      </p:sp>
      <p:sp>
        <p:nvSpPr>
          <p:cNvPr id="18" name="privacy-u2-mark">
            <a:extLst xmlns:a="http://schemas.openxmlformats.org/drawingml/2006/main">
              <a:ext uri="{FF2B5EF4-FFF2-40B4-BE49-F238E27FC236}">
                <a16:creationId xmlns:a16="http://schemas.microsoft.com/office/drawing/2014/main" id="{7773E385-7D6D-4ABC-896F-D131F23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ivacy-u2">
            <a:extLst xmlns:a="http://schemas.openxmlformats.org/drawingml/2006/main">
              <a:ext uri="{FF2B5EF4-FFF2-40B4-BE49-F238E27FC236}">
                <a16:creationId xmlns:a16="http://schemas.microsoft.com/office/drawing/2014/main" id="{287D7394-FFB1-4011-97D4-156EAC5B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290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Salted inventory and affected-release commitments</a:t>
            </a:r>
          </a:p>
        </p:txBody>
      </p:sp>
      <p:sp>
        <p:nvSpPr>
          <p:cNvPr id="20" name="privacy-u3-mark">
            <a:extLst xmlns:a="http://schemas.openxmlformats.org/drawingml/2006/main">
              <a:ext uri="{FF2B5EF4-FFF2-40B4-BE49-F238E27FC236}">
                <a16:creationId xmlns:a16="http://schemas.microsoft.com/office/drawing/2014/main" id="{3E31D40A-3215-4811-87EC-E64E183B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ivacy-u3">
            <a:extLst xmlns:a="http://schemas.openxmlformats.org/drawingml/2006/main">
              <a:ext uri="{FF2B5EF4-FFF2-40B4-BE49-F238E27FC236}">
                <a16:creationId xmlns:a16="http://schemas.microsoft.com/office/drawing/2014/main" id="{1ED4E99D-EF89-48E0-945D-78FEC99E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767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03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Policy activation and advisory-scoped nullifiers</a:t>
            </a:r>
          </a:p>
        </p:txBody>
      </p:sp>
      <p:sp>
        <p:nvSpPr>
          <p:cNvPr id="22" name="privacy-u4-mark">
            <a:extLst xmlns:a="http://schemas.openxmlformats.org/drawingml/2006/main">
              <a:ext uri="{FF2B5EF4-FFF2-40B4-BE49-F238E27FC236}">
                <a16:creationId xmlns:a16="http://schemas.microsoft.com/office/drawing/2014/main" id="{85633301-8FB6-4DE7-B808-AF5EE16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10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rivacy-u4">
            <a:extLst xmlns:a="http://schemas.openxmlformats.org/drawingml/2006/main">
              <a:ext uri="{FF2B5EF4-FFF2-40B4-BE49-F238E27FC236}">
                <a16:creationId xmlns:a16="http://schemas.microsoft.com/office/drawing/2014/main" id="{846A4C45-1170-4C6A-A0E0-A6E5359C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244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Aggregate accepted count</a:t>
            </a:r>
          </a:p>
        </p:txBody>
      </p:sp>
      <p:sp>
        <p:nvSpPr>
          <p:cNvPr id="24" name="privacy-caveat">
            <a:extLst xmlns:a="http://schemas.openxmlformats.org/drawingml/2006/main">
              <a:ext uri="{FF2B5EF4-FFF2-40B4-BE49-F238E27FC236}">
                <a16:creationId xmlns:a16="http://schemas.microsoft.com/office/drawing/2014/main" id="{BF8A43E1-58B8-4B73-87B2-3C4AE28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92"/>
          </a:bodyPr>
          <a:lstStyle xmlns:a="http://schemas.openxmlformats.org/drawingml/2006/main">
            <a:defPPr algn="ctr">
              <a:defRPr sz="1350" b="1">
                <a:solidFill>
                  <a:srgbClr val="F5C66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5C66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5C66A"/>
                </a:solidFill>
                <a:latin typeface="DejaVu Sans"/>
                <a:ea typeface="DejaVu Sans"/>
                <a:cs typeface="DejaVu Sans"/>
              </a:rPr>
              <a:t>Current scanner provenance is genuine package-manager evidence, not hardware-backed remote attestation.</a:t>
            </a:r>
          </a:p>
        </p:txBody>
      </p:sp>
      <p:sp>
        <p:nvSpPr>
          <p:cNvPr id="25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88A1DA48-BF0C-448F-B9C1-263B919B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26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E4E18E78-D9C1-4644-B86E-0BF06FD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309909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46672288-2B99-45DB-87F8-B55F8F3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0FF2F49-1682-44D2-9443-728EE35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Adoption path</a:t>
            </a:r>
          </a:p>
        </p:txBody>
      </p:sp>
      <p:sp>
        <p:nvSpPr>
          <p:cNvPr id="3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DF68CF66-B298-4230-A9F3-00CB936C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A focused pilot can test governance, trust and operational value before production scale</a:t>
            </a:r>
          </a:p>
        </p:txBody>
      </p:sp>
      <p:sp>
        <p:nvSpPr>
          <p:cNvPr id="4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A7468302-E599-4A5B-8FFD-A3E15320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dopt-phase-0">
            <a:extLst xmlns:a="http://schemas.openxmlformats.org/drawingml/2006/main">
              <a:ext uri="{FF2B5EF4-FFF2-40B4-BE49-F238E27FC236}">
                <a16:creationId xmlns:a16="http://schemas.microsoft.com/office/drawing/2014/main" id="{97F4973A-0478-41ED-A2A3-18635E6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adopt-title-0">
            <a:extLst xmlns:a="http://schemas.openxmlformats.org/drawingml/2006/main">
              <a:ext uri="{FF2B5EF4-FFF2-40B4-BE49-F238E27FC236}">
                <a16:creationId xmlns:a16="http://schemas.microsoft.com/office/drawing/2014/main" id="{2C7366FA-AA86-4F22-BC04-C1F32BD9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Pilot</a:t>
            </a:r>
          </a:p>
        </p:txBody>
      </p:sp>
      <p:sp>
        <p:nvSpPr>
          <p:cNvPr id="7" name="adopt-0-1-mark">
            <a:extLst xmlns:a="http://schemas.openxmlformats.org/drawingml/2006/main">
              <a:ext uri="{FF2B5EF4-FFF2-40B4-BE49-F238E27FC236}">
                <a16:creationId xmlns:a16="http://schemas.microsoft.com/office/drawing/2014/main" id="{8D388030-5328-48FE-B3E9-5B9F4427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dopt-0-1">
            <a:extLst xmlns:a="http://schemas.openxmlformats.org/drawingml/2006/main">
              <a:ext uri="{FF2B5EF4-FFF2-40B4-BE49-F238E27FC236}">
                <a16:creationId xmlns:a16="http://schemas.microsoft.com/office/drawing/2014/main" id="{6FDED052-F6CA-4280-AABD-183E1C3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One coordinator</a:t>
            </a:r>
          </a:p>
        </p:txBody>
      </p:sp>
      <p:sp>
        <p:nvSpPr>
          <p:cNvPr id="9" name="adopt-0-2-mark">
            <a:extLst xmlns:a="http://schemas.openxmlformats.org/drawingml/2006/main">
              <a:ext uri="{FF2B5EF4-FFF2-40B4-BE49-F238E27FC236}">
                <a16:creationId xmlns:a16="http://schemas.microsoft.com/office/drawing/2014/main" id="{0E62E335-B5F5-449D-BBFF-1DA36076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dopt-0-2">
            <a:extLst xmlns:a="http://schemas.openxmlformats.org/drawingml/2006/main">
              <a:ext uri="{FF2B5EF4-FFF2-40B4-BE49-F238E27FC236}">
                <a16:creationId xmlns:a16="http://schemas.microsoft.com/office/drawing/2014/main" id="{8076EB80-EB13-4490-A2EA-3404AD8F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Independent Certifier</a:t>
            </a:r>
          </a:p>
        </p:txBody>
      </p:sp>
      <p:sp>
        <p:nvSpPr>
          <p:cNvPr id="11" name="adopt-0-3-mark">
            <a:extLst xmlns:a="http://schemas.openxmlformats.org/drawingml/2006/main">
              <a:ext uri="{FF2B5EF4-FFF2-40B4-BE49-F238E27FC236}">
                <a16:creationId xmlns:a16="http://schemas.microsoft.com/office/drawing/2014/main" id="{545780B4-8A1B-4BF7-A13E-DDD47502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dopt-0-3">
            <a:extLst xmlns:a="http://schemas.openxmlformats.org/drawingml/2006/main">
              <a:ext uri="{FF2B5EF4-FFF2-40B4-BE49-F238E27FC236}">
                <a16:creationId xmlns:a16="http://schemas.microsoft.com/office/drawing/2014/main" id="{B655C0FF-BF7F-49B8-82F7-15F32944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Small organization cohort</a:t>
            </a:r>
          </a:p>
        </p:txBody>
      </p:sp>
      <p:sp>
        <p:nvSpPr>
          <p:cNvPr id="13" name="adopt-phase-1">
            <a:extLst xmlns:a="http://schemas.openxmlformats.org/drawingml/2006/main">
              <a:ext uri="{FF2B5EF4-FFF2-40B4-BE49-F238E27FC236}">
                <a16:creationId xmlns:a16="http://schemas.microsoft.com/office/drawing/2014/main" id="{E3E56B20-0791-4845-A583-DC38E43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adopt-title-1">
            <a:extLst xmlns:a="http://schemas.openxmlformats.org/drawingml/2006/main">
              <a:ext uri="{FF2B5EF4-FFF2-40B4-BE49-F238E27FC236}">
                <a16:creationId xmlns:a16="http://schemas.microsoft.com/office/drawing/2014/main" id="{A738D269-8C4F-4B8A-8394-74282709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26"/>
          </a:bodyPr>
          <a:lstStyle xmlns:a="http://schemas.openxmlformats.org/drawingml/2006/main">
            <a:def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Production controls</a:t>
            </a:r>
          </a:p>
        </p:txBody>
      </p:sp>
      <p:sp>
        <p:nvSpPr>
          <p:cNvPr id="15" name="adopt-1-1-mark">
            <a:extLst xmlns:a="http://schemas.openxmlformats.org/drawingml/2006/main">
              <a:ext uri="{FF2B5EF4-FFF2-40B4-BE49-F238E27FC236}">
                <a16:creationId xmlns:a16="http://schemas.microsoft.com/office/drawing/2014/main" id="{B14B109B-ED40-4F98-9526-4418840A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dopt-1-1">
            <a:extLst xmlns:a="http://schemas.openxmlformats.org/drawingml/2006/main">
              <a:ext uri="{FF2B5EF4-FFF2-40B4-BE49-F238E27FC236}">
                <a16:creationId xmlns:a16="http://schemas.microsoft.com/office/drawing/2014/main" id="{D53AEE53-0878-4438-8D69-8CF1EAF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Signed scanner output</a:t>
            </a:r>
          </a:p>
        </p:txBody>
      </p:sp>
      <p:sp>
        <p:nvSpPr>
          <p:cNvPr id="17" name="adopt-1-2-mark">
            <a:extLst xmlns:a="http://schemas.openxmlformats.org/drawingml/2006/main">
              <a:ext uri="{FF2B5EF4-FFF2-40B4-BE49-F238E27FC236}">
                <a16:creationId xmlns:a16="http://schemas.microsoft.com/office/drawing/2014/main" id="{B43A3D37-931B-445E-B204-12ED203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dopt-1-2">
            <a:extLst xmlns:a="http://schemas.openxmlformats.org/drawingml/2006/main">
              <a:ext uri="{FF2B5EF4-FFF2-40B4-BE49-F238E27FC236}">
                <a16:creationId xmlns:a16="http://schemas.microsoft.com/office/drawing/2014/main" id="{5BFC226E-393C-4F1B-9D26-F9D65E39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62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Key custody and revocation</a:t>
            </a:r>
          </a:p>
        </p:txBody>
      </p:sp>
      <p:sp>
        <p:nvSpPr>
          <p:cNvPr id="19" name="adopt-1-3-mark">
            <a:extLst xmlns:a="http://schemas.openxmlformats.org/drawingml/2006/main">
              <a:ext uri="{FF2B5EF4-FFF2-40B4-BE49-F238E27FC236}">
                <a16:creationId xmlns:a16="http://schemas.microsoft.com/office/drawing/2014/main" id="{7BB8F450-EAA0-42E1-BE3F-BE05596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dopt-1-3">
            <a:extLst xmlns:a="http://schemas.openxmlformats.org/drawingml/2006/main">
              <a:ext uri="{FF2B5EF4-FFF2-40B4-BE49-F238E27FC236}">
                <a16:creationId xmlns:a16="http://schemas.microsoft.com/office/drawing/2014/main" id="{D6B787CE-FD9A-48DA-80BF-3554E69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672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Monitoring and support</a:t>
            </a:r>
          </a:p>
        </p:txBody>
      </p:sp>
      <p:sp>
        <p:nvSpPr>
          <p:cNvPr id="21" name="adopt-phase-2">
            <a:extLst xmlns:a="http://schemas.openxmlformats.org/drawingml/2006/main">
              <a:ext uri="{FF2B5EF4-FFF2-40B4-BE49-F238E27FC236}">
                <a16:creationId xmlns:a16="http://schemas.microsoft.com/office/drawing/2014/main" id="{A8A660D8-9AE4-465A-85D6-544B10EF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2" name="adopt-title-2">
            <a:extLst xmlns:a="http://schemas.openxmlformats.org/drawingml/2006/main">
              <a:ext uri="{FF2B5EF4-FFF2-40B4-BE49-F238E27FC236}">
                <a16:creationId xmlns:a16="http://schemas.microsoft.com/office/drawing/2014/main" id="{65A3FA04-F148-4AB6-8533-C2C4056D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Scale</a:t>
            </a:r>
          </a:p>
        </p:txBody>
      </p:sp>
      <p:sp>
        <p:nvSpPr>
          <p:cNvPr id="23" name="adopt-2-1-mark">
            <a:extLst xmlns:a="http://schemas.openxmlformats.org/drawingml/2006/main">
              <a:ext uri="{FF2B5EF4-FFF2-40B4-BE49-F238E27FC236}">
                <a16:creationId xmlns:a16="http://schemas.microsoft.com/office/drawing/2014/main" id="{08685E2C-FDEF-460B-962D-9B527B3D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dopt-2-1">
            <a:extLst xmlns:a="http://schemas.openxmlformats.org/drawingml/2006/main">
              <a:ext uri="{FF2B5EF4-FFF2-40B4-BE49-F238E27FC236}">
                <a16:creationId xmlns:a16="http://schemas.microsoft.com/office/drawing/2014/main" id="{F98832A0-73F7-4695-A09D-B0891F1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Reviewed version policies</a:t>
            </a:r>
          </a:p>
        </p:txBody>
      </p:sp>
      <p:sp>
        <p:nvSpPr>
          <p:cNvPr id="25" name="adopt-2-2-mark">
            <a:extLst xmlns:a="http://schemas.openxmlformats.org/drawingml/2006/main">
              <a:ext uri="{FF2B5EF4-FFF2-40B4-BE49-F238E27FC236}">
                <a16:creationId xmlns:a16="http://schemas.microsoft.com/office/drawing/2014/main" id="{6FF9B3B1-61CB-40E8-8204-5688EAC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dopt-2-2">
            <a:extLst xmlns:a="http://schemas.openxmlformats.org/drawingml/2006/main">
              <a:ext uri="{FF2B5EF4-FFF2-40B4-BE49-F238E27FC236}">
                <a16:creationId xmlns:a16="http://schemas.microsoft.com/office/drawing/2014/main" id="{2FE7A7AD-7829-41C0-9D3D-27E93A5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Sector and vendor programs</a:t>
            </a:r>
          </a:p>
        </p:txBody>
      </p:sp>
      <p:sp>
        <p:nvSpPr>
          <p:cNvPr id="27" name="adopt-2-3-mark">
            <a:extLst xmlns:a="http://schemas.openxmlformats.org/drawingml/2006/main">
              <a:ext uri="{FF2B5EF4-FFF2-40B4-BE49-F238E27FC236}">
                <a16:creationId xmlns:a16="http://schemas.microsoft.com/office/drawing/2014/main" id="{4AA6F046-1523-4101-8E27-7AF57B7F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dopt-2-3">
            <a:extLst xmlns:a="http://schemas.openxmlformats.org/drawingml/2006/main">
              <a:ext uri="{FF2B5EF4-FFF2-40B4-BE49-F238E27FC236}">
                <a16:creationId xmlns:a16="http://schemas.microsoft.com/office/drawing/2014/main" id="{E85AFF2F-3D13-4B97-A9E0-C2576067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>
            <a:def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Managed or self-hosted deployment</a:t>
            </a:r>
          </a:p>
        </p:txBody>
      </p:sp>
      <p:sp>
        <p:nvSpPr>
          <p:cNvPr id="29" name="adoption-users">
            <a:extLst xmlns:a="http://schemas.openxmlformats.org/drawingml/2006/main">
              <a:ext uri="{FF2B5EF4-FFF2-40B4-BE49-F238E27FC236}">
                <a16:creationId xmlns:a16="http://schemas.microsoft.com/office/drawing/2014/main" id="{C78E1D6C-F738-4782-896B-F8F12B9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>
            <a:defPPr algn="ctr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Initial users: cybersecurity teams, CERT-style coordinators, regulated organizations and software vendors</a:t>
            </a:r>
          </a:p>
        </p:txBody>
      </p:sp>
      <p:sp>
        <p:nvSpPr>
          <p:cNvPr id="30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CA583F1C-492B-408C-B90D-34607C2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· Midnight Buildathon</a:t>
            </a:r>
          </a:p>
        </p:txBody>
      </p:sp>
      <p:sp>
        <p:nvSpPr>
          <p:cNvPr id="31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57EAAEF8-A32E-47D3-BC40-332CD0B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258186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9872308B-44A5-4FD0-8B95-98872410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7563997-7E12-47EC-9947-DD2524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Private evidence.</a:t>
            </a:r>
          </a:p>
          <a:p xmlns:a="http://schemas.openxmlformats.org/drawingml/2006/main">
            <a:pPr algn="l">
              <a:defRPr sz="3600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Public accountability.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5CBB23CA-2BBB-4E67-BC9C-5A9F996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7B4C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7B4CA"/>
                </a:solidFill>
                <a:latin typeface="DejaVu Sans"/>
                <a:ea typeface="DejaVu Sans"/>
                <a:cs typeface="DejaVu Sans"/>
              </a:rPr>
              <a:t>CommonVeil uses Midnight to coordinate vulnerability exposure without turning private infrastructure into public intelligence.</a:t>
            </a:r>
          </a:p>
        </p:txBody>
      </p:sp>
      <p:sp>
        <p:nvSpPr>
          <p:cNvPr id="4" name="close-repo-label">
            <a:extLst xmlns:a="http://schemas.openxmlformats.org/drawingml/2006/main">
              <a:ext uri="{FF2B5EF4-FFF2-40B4-BE49-F238E27FC236}">
                <a16:creationId xmlns:a16="http://schemas.microsoft.com/office/drawing/2014/main" id="{BD544BE5-1C34-438F-AC2C-A039B11C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0D8E8"/>
                </a:solidFill>
                <a:latin typeface="DejaVu Sans"/>
                <a:ea typeface="DejaVu Sans"/>
                <a:cs typeface="DejaVu Sans"/>
              </a:rPr>
              <a:t>REPOSITORY</a:t>
            </a:r>
          </a:p>
        </p:txBody>
      </p:sp>
      <p:sp>
        <p:nvSpPr>
          <p:cNvPr id="5" name="close-repo">
            <a:extLst xmlns:a="http://schemas.openxmlformats.org/drawingml/2006/main">
              <a:ext uri="{FF2B5EF4-FFF2-40B4-BE49-F238E27FC236}">
                <a16:creationId xmlns:a16="http://schemas.microsoft.com/office/drawing/2014/main" id="{05C6DC3F-1964-4A7C-A13C-A1AB0B7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6F8F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6F8FC"/>
                </a:solidFill>
                <a:latin typeface="DejaVu Sans"/>
                <a:ea typeface="DejaVu Sans"/>
                <a:cs typeface="DejaVu Sans"/>
              </a:rPr>
              <a:t>github.com/0xaje/CommonVeil</a:t>
            </a:r>
          </a:p>
        </p:txBody>
      </p:sp>
      <p:sp>
        <p:nvSpPr>
          <p:cNvPr id="6" name="close-proof">
            <a:extLst xmlns:a="http://schemas.openxmlformats.org/drawingml/2006/main">
              <a:ext uri="{FF2B5EF4-FFF2-40B4-BE49-F238E27FC236}">
                <a16:creationId xmlns:a16="http://schemas.microsoft.com/office/drawing/2014/main" id="{38043460-79DB-45A5-B2DD-8104CEF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87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874FF"/>
                </a:solidFill>
                <a:latin typeface="DejaVu Sans"/>
                <a:ea typeface="DejaVu Sans"/>
                <a:cs typeface="DejaVu Sans"/>
              </a:rPr>
              <a:t>Compact · Preprod evidence · Honest negative result</a:t>
            </a:r>
          </a:p>
        </p:txBody>
      </p:sp>
      <p:sp>
        <p:nvSpPr>
          <p:cNvPr id="7" name="close-ring-1">
            <a:extLst xmlns:a="http://schemas.openxmlformats.org/drawingml/2006/main">
              <a:ext uri="{FF2B5EF4-FFF2-40B4-BE49-F238E27FC236}">
                <a16:creationId xmlns:a16="http://schemas.microsoft.com/office/drawing/2014/main" id="{85F5592D-572D-44EE-AE07-090F4C1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0D8E8"/>
            </a:solidFill>
            <a:prstDash val="solid"/>
          </a:ln>
        </p:spPr>
      </p:sp>
      <p:sp>
        <p:nvSpPr>
          <p:cNvPr id="8" name="close-ring-2">
            <a:extLst xmlns:a="http://schemas.openxmlformats.org/drawingml/2006/main">
              <a:ext uri="{FF2B5EF4-FFF2-40B4-BE49-F238E27FC236}">
                <a16:creationId xmlns:a16="http://schemas.microsoft.com/office/drawing/2014/main" id="{A56634B9-9750-4F09-A7B8-E0F7F70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19375"/>
            <a:ext cx="2333625" cy="2333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74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2936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2026-10-14T16:26:27.2390000Z</dcterms:created>
  <dcterms:modified xsi:type="dcterms:W3CDTF">2026-10-14T16:26:27.2390000Z</dcterms:modified>
</coreProperties>
</file>